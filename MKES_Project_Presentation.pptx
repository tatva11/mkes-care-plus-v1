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2" r:id="rId12"/>
    <p:sldId id="261" r:id="rId11"/>
    <p:sldId id="260" r:id="rId10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Open Sans" charset="1" panose="00000000000000000000"/>
      <p:regular r:id="rId16"/>
    </p:embeddedFont>
    <p:embeddedFont>
      <p:font typeface="Poppins" charset="1" panose="00000500000000000000"/>
      <p:regular r:id="rId17"/>
    </p:embeddedFont>
    <p:embeddedFont>
      <p:font typeface="Poppins Bold" charset="1" panose="00000800000000000000"/>
      <p:regular r:id="rId18"/>
    </p:embeddedFont>
    <p:embeddedFont>
      <p:font typeface="Open Sans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7.xml"/><Relationship Id="rId11" Type="http://schemas.openxmlformats.org/officeDocument/2006/relationships/slide" Target="slides/slide6.xml"/><Relationship Id="rId12" Type="http://schemas.openxmlformats.org/officeDocument/2006/relationships/slide" Target="slides/slide5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1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5.png"/><Relationship Id="rId10" Type="http://schemas.openxmlformats.org/officeDocument/2006/relationships/image" Target="../media/image16.svg"/><Relationship Id="rId11" Type="http://schemas.openxmlformats.org/officeDocument/2006/relationships/image" Target="../media/image17.png"/><Relationship Id="rId12" Type="http://schemas.openxmlformats.org/officeDocument/2006/relationships/image" Target="../media/image18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Relationship Id="rId5" Type="http://schemas.openxmlformats.org/officeDocument/2006/relationships/image" Target="../media/image22.png"/><Relationship Id="rId6" Type="http://schemas.openxmlformats.org/officeDocument/2006/relationships/image" Target="../media/image23.svg"/><Relationship Id="rId7" Type="http://schemas.openxmlformats.org/officeDocument/2006/relationships/image" Target="../media/image24.png"/><Relationship Id="rId8" Type="http://schemas.openxmlformats.org/officeDocument/2006/relationships/image" Target="../media/image25.svg"/><Relationship Id="rId9" Type="http://schemas.openxmlformats.org/officeDocument/2006/relationships/image" Target="../media/image26.png"/><Relationship Id="rId10" Type="http://schemas.openxmlformats.org/officeDocument/2006/relationships/image" Target="../media/image27.svg"/><Relationship Id="rId11" Type="http://schemas.openxmlformats.org/officeDocument/2006/relationships/image" Target="../media/image28.png"/><Relationship Id="rId12" Type="http://schemas.openxmlformats.org/officeDocument/2006/relationships/image" Target="../media/image2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704283" y="1694557"/>
            <a:ext cx="5876304" cy="11627276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7419098" y="4406610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0" y="0"/>
                </a:lnTo>
                <a:lnTo>
                  <a:pt x="4851690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23" id="23"/>
          <p:cNvSpPr/>
          <p:nvPr/>
        </p:nvSpPr>
        <p:spPr>
          <a:xfrm flipH="false" flipV="false" rot="0">
            <a:off x="9995932" y="4406610"/>
            <a:ext cx="4851690" cy="4851690"/>
          </a:xfrm>
          <a:custGeom>
            <a:avLst/>
            <a:gdLst/>
            <a:ahLst/>
            <a:cxnLst/>
            <a:rect r="r" b="b" t="t" l="l"/>
            <a:pathLst>
              <a:path h="4851690" w="4851690">
                <a:moveTo>
                  <a:pt x="0" y="0"/>
                </a:moveTo>
                <a:lnTo>
                  <a:pt x="4851691" y="0"/>
                </a:lnTo>
                <a:lnTo>
                  <a:pt x="4851691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24" id="24"/>
          <p:cNvGrpSpPr/>
          <p:nvPr/>
        </p:nvGrpSpPr>
        <p:grpSpPr>
          <a:xfrm rot="0">
            <a:off x="8394727" y="5309790"/>
            <a:ext cx="5139841" cy="2819922"/>
            <a:chOff x="0" y="0"/>
            <a:chExt cx="1052050" cy="5771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52050" cy="577197"/>
            </a:xfrm>
            <a:custGeom>
              <a:avLst/>
              <a:gdLst/>
              <a:ahLst/>
              <a:cxnLst/>
              <a:rect r="r" b="b" t="t" l="l"/>
              <a:pathLst>
                <a:path h="577197" w="1052050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020955" y="5632808"/>
            <a:ext cx="1810448" cy="1810448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097891" y="5632808"/>
            <a:ext cx="1810448" cy="1810448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 rot="0">
            <a:off x="1927286" y="7219080"/>
            <a:ext cx="2003612" cy="775869"/>
            <a:chOff x="0" y="0"/>
            <a:chExt cx="2098984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98984" cy="812800"/>
            </a:xfrm>
            <a:custGeom>
              <a:avLst/>
              <a:gdLst/>
              <a:ahLst/>
              <a:cxnLst/>
              <a:rect r="r" b="b" t="t" l="l"/>
              <a:pathLst>
                <a:path h="812800" w="2098984">
                  <a:moveTo>
                    <a:pt x="386398" y="0"/>
                  </a:moveTo>
                  <a:lnTo>
                    <a:pt x="1712586" y="0"/>
                  </a:lnTo>
                  <a:cubicBezTo>
                    <a:pt x="1925987" y="0"/>
                    <a:pt x="2098984" y="172996"/>
                    <a:pt x="2098984" y="386398"/>
                  </a:cubicBezTo>
                  <a:lnTo>
                    <a:pt x="2098984" y="426402"/>
                  </a:lnTo>
                  <a:cubicBezTo>
                    <a:pt x="2098984" y="639804"/>
                    <a:pt x="1925987" y="812800"/>
                    <a:pt x="1712586" y="812800"/>
                  </a:cubicBezTo>
                  <a:lnTo>
                    <a:pt x="386398" y="812800"/>
                  </a:lnTo>
                  <a:cubicBezTo>
                    <a:pt x="172996" y="812800"/>
                    <a:pt x="0" y="639804"/>
                    <a:pt x="0" y="426402"/>
                  </a:cubicBezTo>
                  <a:lnTo>
                    <a:pt x="0" y="386398"/>
                  </a:lnTo>
                  <a:cubicBezTo>
                    <a:pt x="0" y="172996"/>
                    <a:pt x="172996" y="0"/>
                    <a:pt x="386398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098984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-9144000" y="7358261"/>
            <a:ext cx="497506" cy="497506"/>
          </a:xfrm>
          <a:custGeom>
            <a:avLst/>
            <a:gdLst/>
            <a:ahLst/>
            <a:cxnLst/>
            <a:rect r="r" b="b" t="t" l="l"/>
            <a:pathLst>
              <a:path h="497506" w="497506">
                <a:moveTo>
                  <a:pt x="0" y="0"/>
                </a:moveTo>
                <a:lnTo>
                  <a:pt x="497506" y="0"/>
                </a:lnTo>
                <a:lnTo>
                  <a:pt x="497506" y="497506"/>
                </a:lnTo>
                <a:lnTo>
                  <a:pt x="0" y="4975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3" id="33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35" id="35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36" id="36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37" id="37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Academic Project Viva 2025–26 | Department of CSE / IT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27286" y="1920240"/>
            <a:ext cx="6400800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46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927286" y="3017520"/>
            <a:ext cx="6400800" cy="9144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2700" b="1">
                <a:solidFill>
                  <a:srgbClr val="1F2020"/>
                </a:solidFill>
                <a:latin typeface="Poppins"/>
              </a:rPr>
              <a:t>Smart Eye &amp; Dental Clinic System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56424" y="7360168"/>
            <a:ext cx="1739510" cy="2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000" b="1">
                <a:solidFill>
                  <a:srgbClr val="984800"/>
                </a:solidFill>
                <a:latin typeface="Open Sans"/>
              </a:rPr>
              <a:t>2 Specialties</a:t>
            </a:r>
            <a:br/>
            <a:r>
              <a:rPr sz="1000" b="1">
                <a:solidFill>
                  <a:srgbClr val="984800"/>
                </a:solidFill>
                <a:latin typeface="Open Sans"/>
              </a:rPr>
              <a:t>(Eye &amp; Dental)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33360" y="7360168"/>
            <a:ext cx="1739510" cy="29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000" b="1">
                <a:solidFill>
                  <a:srgbClr val="EE8438"/>
                </a:solidFill>
                <a:latin typeface="Open Sans"/>
              </a:rPr>
              <a:t>100% Realtime</a:t>
            </a:r>
            <a:br/>
            <a:r>
              <a:rPr sz="1000" b="1">
                <a:solidFill>
                  <a:srgbClr val="EE8438"/>
                </a:solidFill>
                <a:latin typeface="Open Sans"/>
              </a:rPr>
              <a:t>(Cloud + Excel)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927286" y="4114800"/>
            <a:ext cx="6035040" cy="82296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250" b="0">
                <a:solidFill>
                  <a:srgbClr val="705548"/>
                </a:solidFill>
                <a:latin typeface="Open Sans"/>
              </a:rPr>
              <a:t>An Integrated Android Application for Clinic Operations, Automation and AI-Assisted Decision Support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27286" y="7470648"/>
            <a:ext cx="2286000" cy="247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Poppins"/>
              </a:rPr>
              <a:t>Project Viva 2026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951727" y="7468168"/>
            <a:ext cx="1741014" cy="248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929384" y="5166360"/>
            <a:ext cx="6217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020"/>
                </a:solidFill>
                <a:latin typeface="Poppins"/>
              </a:rPr>
              <a:t>Presented by: [Student Name(s)]</a:t>
            </a:r>
          </a:p>
          <a:p>
            <a:pPr algn="l"/>
            <a:r>
              <a:rPr sz="1150" b="1">
                <a:solidFill>
                  <a:srgbClr val="984800"/>
                </a:solidFill>
                <a:latin typeface="Poppins"/>
              </a:rPr>
              <a:t>Guided by: [Guide Name]</a:t>
            </a:r>
          </a:p>
          <a:p>
            <a:pPr algn="l"/>
            <a:r>
              <a:rPr sz="1050" b="0">
                <a:solidFill>
                  <a:srgbClr val="705548"/>
                </a:solidFill>
                <a:latin typeface="Open Sans"/>
              </a:rPr>
              <a:t>Department: [Department Name]</a:t>
            </a:r>
          </a:p>
          <a:p>
            <a:pPr algn="l"/>
            <a:r>
              <a:rPr sz="1000" b="0">
                <a:solidFill>
                  <a:srgbClr val="705548"/>
                </a:solidFill>
                <a:latin typeface="Open Sans"/>
              </a:rPr>
              <a:t>Institution: [College Name]  •  Academic Year: [Academic Year]</a:t>
            </a:r>
          </a:p>
          <a:p>
            <a:pPr algn="l"/>
            <a:r>
              <a:rPr sz="1000" b="0">
                <a:solidFill>
                  <a:srgbClr val="705548"/>
                </a:solidFill>
                <a:latin typeface="Open Sans"/>
              </a:rPr>
              <a:t>Platform: Flutter Android &amp; Supabase PostgreSQL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10643" y="5532895"/>
            <a:ext cx="9163193" cy="916319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3491847" y="1596184"/>
            <a:ext cx="4180995" cy="8272818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1760418" y="4100085"/>
            <a:ext cx="2915550" cy="5768917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6528297" y="5339641"/>
            <a:ext cx="2289092" cy="4529361"/>
            <a:chOff x="0" y="0"/>
            <a:chExt cx="2620010" cy="5184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258044" y="3063240"/>
            <a:ext cx="1042538" cy="47625"/>
            <a:chOff x="0" y="0"/>
            <a:chExt cx="274578" cy="1254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0" id="50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1" id="51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2" id="52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00 | Presentation Overview &amp; Agenda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258044" y="2194560"/>
            <a:ext cx="6583680" cy="822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3800" b="1">
                <a:solidFill>
                  <a:srgbClr val="1F2020"/>
                </a:solidFill>
                <a:latin typeface="Poppins"/>
              </a:rPr>
              <a:t>Presentation Outline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258044" y="7120786"/>
            <a:ext cx="5263403" cy="82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5" id="55"/>
          <p:cNvSpPr txBox="true"/>
          <p:nvPr/>
        </p:nvSpPr>
        <p:spPr>
          <a:xfrm rot="0">
            <a:off x="11258044" y="6673111"/>
            <a:ext cx="2378606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56" id="56"/>
          <p:cNvSpPr txBox="true"/>
          <p:nvPr/>
        </p:nvSpPr>
        <p:spPr>
          <a:xfrm rot="0">
            <a:off x="11258044" y="4824113"/>
            <a:ext cx="5263403" cy="124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607040" y="3291840"/>
            <a:ext cx="68580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1. Existing System, Problem Statement &amp; Motivation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Operational fragmentation in eye/dental clinics, and motivation for a unified mobile solution.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2. Proposed System &amp; Functional Pillars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Clinic operations, staff management, dual supply chain, and AI Clinic Copilot.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3. System Architecture &amp; Tier Breakdown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Multi-tier decoupled architecture: Flutter client, Riverpod, Supabase backend &amp; Excel sync.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4. Production Technology Stack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Verified stack: Flutter SDK 3.3+, Dart, PostgreSQL with RLS, and WhatsApp deep-links.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5. Implementation Snapshots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Six core production modules ready for real application screenshots.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6. Future Scope &amp; System Roadmap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Conversational AI Copilot, predictive forecasting, and biometric attendance hardware.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7. Conclusion &amp; Operational Summary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Consolidated dual-specialty benefits and unified clinical management summary.</a:t>
            </a:r>
          </a:p>
          <a:p>
            <a:pPr algn="l">
              <a:spcAft>
                <a:spcPts val="100"/>
              </a:spcAft>
            </a:pPr>
            <a:r>
              <a:rPr sz="1050" b="1">
                <a:solidFill>
                  <a:srgbClr val="984800"/>
                </a:solidFill>
                <a:latin typeface="Poppins"/>
              </a:rPr>
              <a:t>8. References (IEEE Format) &amp; Viva Q&amp;A</a:t>
            </a:r>
          </a:p>
          <a:p>
            <a:pPr algn="l">
              <a:spcAft>
                <a:spcPts val="400"/>
              </a:spcAft>
            </a:pPr>
            <a:r>
              <a:rPr sz="880" b="0">
                <a:solidFill>
                  <a:srgbClr val="1F2020"/>
                </a:solidFill>
                <a:latin typeface="Open Sans"/>
              </a:rPr>
              <a:t>Verified peer-reviewed research, official technical documentation, and oral defense.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1520229" y="4470746"/>
            <a:ext cx="8252837" cy="825283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543171" y="1689836"/>
            <a:ext cx="2961571" cy="5859977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4" id="24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5" id="25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6" id="26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01 | Existing System, Problem &amp; Motivation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3703249" y="2737187"/>
            <a:ext cx="2961571" cy="5859977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27240" y="3710399"/>
            <a:ext cx="1042538" cy="47625"/>
            <a:chOff x="0" y="0"/>
            <a:chExt cx="274578" cy="125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927240" y="2057698"/>
            <a:ext cx="7772400" cy="140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3800" b="1">
                <a:solidFill>
                  <a:srgbClr val="1F2020"/>
                </a:solidFill>
                <a:latin typeface="Poppins"/>
              </a:rPr>
              <a:t>Existing System &amp; Motivation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927240" y="4748749"/>
            <a:ext cx="677751" cy="677751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2874528" y="4729699"/>
            <a:ext cx="278892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2018060" y="492474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953135" y="4748749"/>
            <a:ext cx="677751" cy="677751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900423" y="4729699"/>
            <a:ext cx="310896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6043955" y="4924746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927240" y="6965275"/>
            <a:ext cx="677751" cy="67775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874528" y="6946225"/>
            <a:ext cx="278892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2018060" y="714127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5953135" y="6965275"/>
            <a:ext cx="677751" cy="67775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6900423" y="6946225"/>
            <a:ext cx="310896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</a:p>
        </p:txBody>
      </p:sp>
      <p:sp>
        <p:nvSpPr>
          <p:cNvPr name="TextBox 60" id="60"/>
          <p:cNvSpPr txBox="true"/>
          <p:nvPr/>
        </p:nvSpPr>
        <p:spPr>
          <a:xfrm rot="0">
            <a:off x="6043955" y="714127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2651" y="0"/>
            <a:ext cx="8260763" cy="10287000"/>
            <a:chOff x="0" y="0"/>
            <a:chExt cx="2175674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5674" cy="2709333"/>
            </a:xfrm>
            <a:custGeom>
              <a:avLst/>
              <a:gdLst/>
              <a:ahLst/>
              <a:cxnLst/>
              <a:rect r="r" b="b" t="t" l="l"/>
              <a:pathLst>
                <a:path h="2709333" w="2175674">
                  <a:moveTo>
                    <a:pt x="0" y="0"/>
                  </a:moveTo>
                  <a:lnTo>
                    <a:pt x="2175674" y="0"/>
                  </a:lnTo>
                  <a:lnTo>
                    <a:pt x="21756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7567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-453973" y="1844576"/>
            <a:ext cx="3334483" cy="6597848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>
            <a:grpSpLocks noChangeAspect="true"/>
          </p:cNvGrpSpPr>
          <p:nvPr/>
        </p:nvGrpSpPr>
        <p:grpSpPr>
          <a:xfrm rot="0">
            <a:off x="3053449" y="1844576"/>
            <a:ext cx="3334483" cy="6597848"/>
            <a:chOff x="0" y="0"/>
            <a:chExt cx="2620010" cy="5184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5" id="35"/>
          <p:cNvGrpSpPr>
            <a:grpSpLocks noChangeAspect="true"/>
          </p:cNvGrpSpPr>
          <p:nvPr/>
        </p:nvGrpSpPr>
        <p:grpSpPr>
          <a:xfrm rot="0">
            <a:off x="6560870" y="1844576"/>
            <a:ext cx="3334483" cy="6597848"/>
            <a:chOff x="0" y="0"/>
            <a:chExt cx="2620010" cy="5184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Poppins"/>
              </a:rPr>
              <a:t>MKES CARE+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7" id="4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8" id="4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49" id="49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02 | Proposed System &amp; Core Pillars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1551926" y="3984685"/>
            <a:ext cx="1042538" cy="47625"/>
            <a:chOff x="0" y="0"/>
            <a:chExt cx="274578" cy="1254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11551926" y="2331983"/>
            <a:ext cx="6583680" cy="1407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3800" b="1">
                <a:solidFill>
                  <a:srgbClr val="1F2020"/>
                </a:solidFill>
                <a:latin typeface="Poppins"/>
              </a:rPr>
              <a:t>Proposed System &amp; Pillars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1551926" y="4818459"/>
            <a:ext cx="677751" cy="677751"/>
            <a:chOff x="0" y="0"/>
            <a:chExt cx="8128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2499214" y="4839423"/>
            <a:ext cx="53035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200" b="1">
                <a:solidFill>
                  <a:srgbClr val="984800"/>
                </a:solidFill>
                <a:latin typeface="Poppins"/>
              </a:rPr>
              <a:t>Multi-Specialty Clinic &amp; Patient Operations</a:t>
            </a:r>
          </a:p>
          <a:p>
            <a:pPr algn="l"/>
            <a:r>
              <a:rPr sz="980" b="0">
                <a:solidFill>
                  <a:srgbClr val="1F2020"/>
                </a:solidFill>
                <a:latin typeface="Open Sans"/>
              </a:rPr>
              <a:t>Department-specific patient numbering (Eye &amp; Dental), centralized medical records, walk-in and scheduled appointment queues, doctor queues, and receptionist dashboards.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642746" y="4994457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1551926" y="6028813"/>
            <a:ext cx="677751" cy="677751"/>
            <a:chOff x="0" y="0"/>
            <a:chExt cx="812800" cy="812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499214" y="6049776"/>
            <a:ext cx="53035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200" b="1">
                <a:solidFill>
                  <a:srgbClr val="984800"/>
                </a:solidFill>
                <a:latin typeface="Poppins"/>
              </a:rPr>
              <a:t>Workforce Management &amp; Supply Chain</a:t>
            </a:r>
          </a:p>
          <a:p>
            <a:pPr algn="l"/>
            <a:r>
              <a:rPr sz="980" b="0">
                <a:solidFill>
                  <a:srgbClr val="1F2020"/>
                </a:solidFill>
                <a:latin typeface="Open Sans"/>
              </a:rPr>
              <a:t>Daily staff attendance tracking, automated leave salary deduction calculations, task delegation, dual-department stock monitoring, batch expiry alerts, and vendor purchase orders.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642746" y="6204811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1551926" y="7239166"/>
            <a:ext cx="677751" cy="677751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499214" y="7260130"/>
            <a:ext cx="5303520" cy="109728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200" b="1">
                <a:solidFill>
                  <a:srgbClr val="EE8438"/>
                </a:solidFill>
                <a:latin typeface="Poppins"/>
              </a:rPr>
              <a:t>Automation &amp; AI Clinic Copilot (Core Differentiator)</a:t>
            </a:r>
          </a:p>
          <a:p>
            <a:pPr algn="l"/>
            <a:r>
              <a:rPr sz="980" b="0">
                <a:solidFill>
                  <a:srgbClr val="1F2020"/>
                </a:solidFill>
                <a:latin typeface="Open Sans"/>
              </a:rPr>
              <a:t>Data-grounded Copilot Insights synthesizing live patient queues, critical low stock, and overdue tasks; automated WhatsApp (wa.me) notifications and Excel cloud reporting.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642746" y="7415164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062519" y="1736008"/>
            <a:ext cx="3444222" cy="6814984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4" id="24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5" id="25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6" id="26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03 | System Architecture &amp; Tier Breakdown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070960" y="3029716"/>
            <a:ext cx="1042538" cy="47625"/>
            <a:chOff x="0" y="0"/>
            <a:chExt cx="274578" cy="1254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070960" y="2139014"/>
            <a:ext cx="7772400" cy="73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3800" b="1">
                <a:solidFill>
                  <a:srgbClr val="1F2020"/>
                </a:solidFill>
                <a:latin typeface="Poppins"/>
              </a:rPr>
              <a:t>System Architecture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2070960" y="3873661"/>
            <a:ext cx="4677331" cy="467733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4690" y="0"/>
                  </a:moveTo>
                  <a:lnTo>
                    <a:pt x="768110" y="0"/>
                  </a:lnTo>
                  <a:cubicBezTo>
                    <a:pt x="779962" y="0"/>
                    <a:pt x="791329" y="4708"/>
                    <a:pt x="799710" y="13090"/>
                  </a:cubicBezTo>
                  <a:cubicBezTo>
                    <a:pt x="808092" y="21471"/>
                    <a:pt x="812800" y="32838"/>
                    <a:pt x="812800" y="44690"/>
                  </a:cubicBezTo>
                  <a:lnTo>
                    <a:pt x="812800" y="768110"/>
                  </a:lnTo>
                  <a:cubicBezTo>
                    <a:pt x="812800" y="779962"/>
                    <a:pt x="808092" y="791329"/>
                    <a:pt x="799710" y="799710"/>
                  </a:cubicBezTo>
                  <a:cubicBezTo>
                    <a:pt x="791329" y="808092"/>
                    <a:pt x="779962" y="812800"/>
                    <a:pt x="768110" y="812800"/>
                  </a:cubicBezTo>
                  <a:lnTo>
                    <a:pt x="44690" y="812800"/>
                  </a:lnTo>
                  <a:cubicBezTo>
                    <a:pt x="32838" y="812800"/>
                    <a:pt x="21471" y="808092"/>
                    <a:pt x="13090" y="799710"/>
                  </a:cubicBezTo>
                  <a:cubicBezTo>
                    <a:pt x="4708" y="791329"/>
                    <a:pt x="0" y="779962"/>
                    <a:pt x="0" y="768110"/>
                  </a:cubicBezTo>
                  <a:lnTo>
                    <a:pt x="0" y="44690"/>
                  </a:lnTo>
                  <a:cubicBezTo>
                    <a:pt x="0" y="32838"/>
                    <a:pt x="4708" y="21471"/>
                    <a:pt x="13090" y="13090"/>
                  </a:cubicBezTo>
                  <a:cubicBezTo>
                    <a:pt x="21471" y="4708"/>
                    <a:pt x="32838" y="0"/>
                    <a:pt x="4469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80288" y="3873661"/>
            <a:ext cx="4677331" cy="467733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4690" y="0"/>
                  </a:moveTo>
                  <a:lnTo>
                    <a:pt x="768110" y="0"/>
                  </a:lnTo>
                  <a:cubicBezTo>
                    <a:pt x="779962" y="0"/>
                    <a:pt x="791329" y="4708"/>
                    <a:pt x="799710" y="13090"/>
                  </a:cubicBezTo>
                  <a:cubicBezTo>
                    <a:pt x="808092" y="21471"/>
                    <a:pt x="812800" y="32838"/>
                    <a:pt x="812800" y="44690"/>
                  </a:cubicBezTo>
                  <a:lnTo>
                    <a:pt x="812800" y="768110"/>
                  </a:lnTo>
                  <a:cubicBezTo>
                    <a:pt x="812800" y="779962"/>
                    <a:pt x="808092" y="791329"/>
                    <a:pt x="799710" y="799710"/>
                  </a:cubicBezTo>
                  <a:cubicBezTo>
                    <a:pt x="791329" y="808092"/>
                    <a:pt x="779962" y="812800"/>
                    <a:pt x="768110" y="812800"/>
                  </a:cubicBezTo>
                  <a:lnTo>
                    <a:pt x="44690" y="812800"/>
                  </a:lnTo>
                  <a:cubicBezTo>
                    <a:pt x="32838" y="812800"/>
                    <a:pt x="21471" y="808092"/>
                    <a:pt x="13090" y="799710"/>
                  </a:cubicBezTo>
                  <a:cubicBezTo>
                    <a:pt x="4708" y="791329"/>
                    <a:pt x="0" y="779962"/>
                    <a:pt x="0" y="768110"/>
                  </a:cubicBezTo>
                  <a:lnTo>
                    <a:pt x="0" y="44690"/>
                  </a:lnTo>
                  <a:cubicBezTo>
                    <a:pt x="0" y="32838"/>
                    <a:pt x="4708" y="21471"/>
                    <a:pt x="13090" y="13090"/>
                  </a:cubicBezTo>
                  <a:cubicBezTo>
                    <a:pt x="21471" y="4708"/>
                    <a:pt x="32838" y="0"/>
                    <a:pt x="4469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985164" y="4635387"/>
            <a:ext cx="1121789" cy="1121789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-9144000" y="7656187"/>
            <a:ext cx="247059" cy="130941"/>
          </a:xfrm>
          <a:custGeom>
            <a:avLst/>
            <a:gdLst/>
            <a:ahLst/>
            <a:cxnLst/>
            <a:rect r="r" b="b" t="t" l="l"/>
            <a:pathLst>
              <a:path h="130941" w="247059">
                <a:moveTo>
                  <a:pt x="0" y="0"/>
                </a:moveTo>
                <a:lnTo>
                  <a:pt x="247059" y="0"/>
                </a:lnTo>
                <a:lnTo>
                  <a:pt x="247059" y="130941"/>
                </a:lnTo>
                <a:lnTo>
                  <a:pt x="0" y="130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41" id="41"/>
          <p:cNvGrpSpPr/>
          <p:nvPr/>
        </p:nvGrpSpPr>
        <p:grpSpPr>
          <a:xfrm rot="0">
            <a:off x="8194492" y="4635387"/>
            <a:ext cx="1121789" cy="1121789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-9144000" y="7656187"/>
            <a:ext cx="247059" cy="130941"/>
          </a:xfrm>
          <a:custGeom>
            <a:avLst/>
            <a:gdLst/>
            <a:ahLst/>
            <a:cxnLst/>
            <a:rect r="r" b="b" t="t" l="l"/>
            <a:pathLst>
              <a:path h="130941" w="247059">
                <a:moveTo>
                  <a:pt x="0" y="0"/>
                </a:moveTo>
                <a:lnTo>
                  <a:pt x="247059" y="0"/>
                </a:lnTo>
                <a:lnTo>
                  <a:pt x="247059" y="130941"/>
                </a:lnTo>
                <a:lnTo>
                  <a:pt x="0" y="130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5" id="45"/>
          <p:cNvSpPr/>
          <p:nvPr/>
        </p:nvSpPr>
        <p:spPr>
          <a:xfrm flipH="false" flipV="false" rot="0">
            <a:off x="3333486" y="4983710"/>
            <a:ext cx="425144" cy="425144"/>
          </a:xfrm>
          <a:custGeom>
            <a:avLst/>
            <a:gdLst/>
            <a:ahLst/>
            <a:cxnLst/>
            <a:rect r="r" b="b" t="t" l="l"/>
            <a:pathLst>
              <a:path h="425144" w="425144">
                <a:moveTo>
                  <a:pt x="0" y="0"/>
                </a:moveTo>
                <a:lnTo>
                  <a:pt x="425144" y="0"/>
                </a:lnTo>
                <a:lnTo>
                  <a:pt x="425144" y="425144"/>
                </a:lnTo>
                <a:lnTo>
                  <a:pt x="0" y="4251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46" id="46"/>
          <p:cNvSpPr/>
          <p:nvPr/>
        </p:nvSpPr>
        <p:spPr>
          <a:xfrm flipH="false" flipV="false" rot="0">
            <a:off x="8498431" y="4983710"/>
            <a:ext cx="513910" cy="425144"/>
          </a:xfrm>
          <a:custGeom>
            <a:avLst/>
            <a:gdLst/>
            <a:ahLst/>
            <a:cxnLst/>
            <a:rect r="r" b="b" t="t" l="l"/>
            <a:pathLst>
              <a:path h="425144" w="513910">
                <a:moveTo>
                  <a:pt x="0" y="0"/>
                </a:moveTo>
                <a:lnTo>
                  <a:pt x="513910" y="0"/>
                </a:lnTo>
                <a:lnTo>
                  <a:pt x="513910" y="425144"/>
                </a:lnTo>
                <a:lnTo>
                  <a:pt x="0" y="4251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7" id="47"/>
          <p:cNvSpPr txBox="true"/>
          <p:nvPr/>
        </p:nvSpPr>
        <p:spPr>
          <a:xfrm rot="0">
            <a:off x="2985164" y="6483134"/>
            <a:ext cx="393192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1F2020"/>
                </a:solidFill>
                <a:latin typeface="Open Sans"/>
              </a:rPr>
              <a:t>• Flutter SDK (v3.3+) &amp; Dart Android Application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F2020"/>
                </a:solidFill>
                <a:latin typeface="Open Sans"/>
              </a:rPr>
              <a:t>• Riverpod 2.6.1 Reactive State &amp; Dependency Injection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F2020"/>
                </a:solidFill>
                <a:latin typeface="Open Sans"/>
              </a:rPr>
              <a:t>• Material 3 UI with AppColors Design System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1F2020"/>
                </a:solidFill>
                <a:latin typeface="Open Sans"/>
              </a:rPr>
              <a:t>• 17 Modular Features (Auth, Patients, Queues, Dental Lab, Eye Surgery, Staff Portal, Inventory, Billing, Reports)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985164" y="6035503"/>
            <a:ext cx="4114800" cy="32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500" b="1">
                <a:solidFill>
                  <a:srgbClr val="984800"/>
                </a:solidFill>
                <a:latin typeface="Poppins"/>
              </a:rPr>
              <a:t>Tier 1: Client &amp; Presentation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985164" y="7587075"/>
            <a:ext cx="3474720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050" b="1">
                <a:solidFill>
                  <a:srgbClr val="984800"/>
                </a:solidFill>
                <a:latin typeface="Poppins"/>
              </a:rPr>
              <a:t>Verified Architecture Flow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194492" y="6483134"/>
            <a:ext cx="393192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• Supabase PostgreSQL 15+ with Row Level Security (RLS)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• Realtime WebSocket Channels for Instant Queues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• Storage Bucket: 'clinic-excel-sync' for Auto Reports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• Custom ExcelWorkbookBuilder Multi-Sheet Exporter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• WhatsApp wa.me Deep Links via url_launcher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FFFFFF"/>
                </a:solidFill>
                <a:latin typeface="Open Sans"/>
              </a:rPr>
              <a:t>• Rule-Grounded Copilot Engine; [Planned: LLM API]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94492" y="6035503"/>
            <a:ext cx="4114800" cy="322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Poppins"/>
              </a:rPr>
              <a:t>Tier 2: Backend, DB &amp; Cloud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8194492" y="7587075"/>
            <a:ext cx="3474720" cy="240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Poppins"/>
              </a:rPr>
              <a:t>Cloud Synchronization 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47856" y="4835475"/>
            <a:ext cx="3040836" cy="6016817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4" id="24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5" id="25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6" id="26"/>
          <p:cNvSpPr txBox="true"/>
          <p:nvPr/>
        </p:nvSpPr>
        <p:spPr>
          <a:xfrm rot="0">
            <a:off x="9601200" y="517674"/>
            <a:ext cx="310896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050" b="1">
                <a:solidFill>
                  <a:srgbClr val="984800"/>
                </a:solidFill>
                <a:latin typeface="Poppins"/>
              </a:rPr>
              <a:t>Client &amp; State Frameworks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Flutter SDK (v3.3+) &amp; Dart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Riverpod (v2.6.1) State Management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Material Design 3 UI Engine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Google Fonts (Poppins / Inter)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flutter_dotenv &amp; intl Formatting</a:t>
            </a:r>
          </a:p>
        </p:txBody>
      </p: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4250703" y="2135091"/>
            <a:ext cx="3040836" cy="6016817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0">
            <a:off x="7553550" y="-565292"/>
            <a:ext cx="3040836" cy="6016817"/>
            <a:chOff x="0" y="0"/>
            <a:chExt cx="2620010" cy="51841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93585" y="3390968"/>
            <a:ext cx="1042538" cy="47625"/>
            <a:chOff x="0" y="0"/>
            <a:chExt cx="274578" cy="125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11893585" y="2500267"/>
            <a:ext cx="7132320" cy="73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3800" b="1">
                <a:solidFill>
                  <a:srgbClr val="1F2020"/>
                </a:solidFill>
                <a:latin typeface="Poppins"/>
              </a:rPr>
              <a:t>Production Tech Stack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8724083" y="6925982"/>
            <a:ext cx="677751" cy="67775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9671370" y="6906932"/>
            <a:ext cx="310896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050" b="1">
                <a:solidFill>
                  <a:srgbClr val="984800"/>
                </a:solidFill>
                <a:latin typeface="Poppins"/>
              </a:rPr>
              <a:t>Client &amp; State Frameworks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Flutter SDK (v3.3+) &amp; Dart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Riverpod (v2.6.1) State Management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Material Design 3 UI Engine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Google Fonts (Poppins / Inter)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flutter_dotenv &amp; intl Formatting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814903" y="710197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031373" y="6925982"/>
            <a:ext cx="677751" cy="677751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3978661" y="6906932"/>
            <a:ext cx="3108960" cy="16459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050" b="1">
                <a:solidFill>
                  <a:srgbClr val="984800"/>
                </a:solidFill>
                <a:latin typeface="Poppins"/>
              </a:rPr>
              <a:t>Cloud Backend &amp; Integrations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Supabase (v2.9.1) PostgreSQL 15+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Row Level Security (RLS) Policies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Custom ExcelWorkbookBuilder Sync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WhatsApp wa.me Deep Links</a:t>
            </a:r>
          </a:p>
          <a:p>
            <a:pPr algn="l"/>
            <a:r>
              <a:rPr sz="880" b="0">
                <a:solidFill>
                  <a:srgbClr val="1F2020"/>
                </a:solidFill>
                <a:latin typeface="Open Sans"/>
              </a:rPr>
              <a:t>• [Planned: LLM Voice/Text API]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22193" y="7101979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893585" y="4203461"/>
            <a:ext cx="6217920" cy="91440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/>
            <a:r>
              <a:rPr sz="1200" b="1">
                <a:solidFill>
                  <a:srgbClr val="984800"/>
                </a:solidFill>
                <a:latin typeface="Poppins"/>
              </a:rPr>
              <a:t>Verified Production Stack</a:t>
            </a:r>
          </a:p>
          <a:p>
            <a:pPr algn="l"/>
            <a:r>
              <a:rPr sz="950" b="0">
                <a:solidFill>
                  <a:srgbClr val="1F2020"/>
                </a:solidFill>
                <a:latin typeface="Open Sans"/>
              </a:rPr>
              <a:t>The technology stack is grounded strictly in evidence verified within the project repository: pubspec.yaml, Riverpod providers, Supabase PostgreSQL schema, and custom export services.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-32651" y="5334000"/>
            <a:ext cx="18320651" cy="4953000"/>
            <a:chOff x="0" y="0"/>
            <a:chExt cx="4825192" cy="13044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25192" cy="1304494"/>
            </a:xfrm>
            <a:custGeom>
              <a:avLst/>
              <a:gdLst/>
              <a:ahLst/>
              <a:cxnLst/>
              <a:rect r="r" b="b" t="t" l="l"/>
              <a:pathLst>
                <a:path h="1304494" w="4825192">
                  <a:moveTo>
                    <a:pt x="0" y="0"/>
                  </a:moveTo>
                  <a:lnTo>
                    <a:pt x="4825192" y="0"/>
                  </a:lnTo>
                  <a:lnTo>
                    <a:pt x="4825192" y="1304494"/>
                  </a:lnTo>
                  <a:lnTo>
                    <a:pt x="0" y="1304494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4825192" cy="13425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EE843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35457" y="3287447"/>
            <a:ext cx="2068613" cy="4093106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7" id="2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8" id="2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9" id="29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05 | Implementation Snapshots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4345151" y="3287447"/>
            <a:ext cx="2068613" cy="4093106"/>
            <a:chOff x="0" y="0"/>
            <a:chExt cx="2620010" cy="5184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6854846" y="3287447"/>
            <a:ext cx="2068613" cy="4093106"/>
            <a:chOff x="0" y="0"/>
            <a:chExt cx="2620010" cy="51841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0" id="50"/>
          <p:cNvGrpSpPr>
            <a:grpSpLocks noChangeAspect="true"/>
          </p:cNvGrpSpPr>
          <p:nvPr/>
        </p:nvGrpSpPr>
        <p:grpSpPr>
          <a:xfrm rot="0">
            <a:off x="9364541" y="3287447"/>
            <a:ext cx="2068613" cy="4093106"/>
            <a:chOff x="0" y="0"/>
            <a:chExt cx="2620010" cy="51841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60" id="60"/>
          <p:cNvGrpSpPr>
            <a:grpSpLocks noChangeAspect="true"/>
          </p:cNvGrpSpPr>
          <p:nvPr/>
        </p:nvGrpSpPr>
        <p:grpSpPr>
          <a:xfrm rot="0">
            <a:off x="11874236" y="3287447"/>
            <a:ext cx="2068613" cy="4093106"/>
            <a:chOff x="0" y="0"/>
            <a:chExt cx="2620010" cy="51841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70" id="70"/>
          <p:cNvGrpSpPr>
            <a:grpSpLocks noChangeAspect="true"/>
          </p:cNvGrpSpPr>
          <p:nvPr/>
        </p:nvGrpSpPr>
        <p:grpSpPr>
          <a:xfrm rot="0">
            <a:off x="14383930" y="3287447"/>
            <a:ext cx="2068613" cy="4093106"/>
            <a:chOff x="0" y="0"/>
            <a:chExt cx="2620010" cy="51841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825038" y="2715947"/>
            <a:ext cx="1042538" cy="47625"/>
            <a:chOff x="0" y="0"/>
            <a:chExt cx="274578" cy="12543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6132341" y="1826418"/>
            <a:ext cx="7772400" cy="73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3800" b="1">
                <a:solidFill>
                  <a:srgbClr val="1F2020"/>
                </a:solidFill>
                <a:latin typeface="Poppins"/>
              </a:rPr>
              <a:t>Implementation Snapshots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3657600" y="8503920"/>
            <a:ext cx="10972800" cy="731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1050" b="0">
                <a:solidFill>
                  <a:srgbClr val="FFFFFF"/>
                </a:solidFill>
                <a:latin typeface="Open Sans"/>
              </a:rPr>
              <a:t>Six implemented Android modules in Flutter &amp; Supabase. Phone frames retained with neutral placeholders for genuine application screenshots.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46504" y="7452360"/>
            <a:ext cx="2249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1. Auth &amp; Roles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Open Sans"/>
              </a:rPr>
              <a:t>Multi-role Login (Admin, Doctor, Staff, Reception) with session persistence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51960" y="7452360"/>
            <a:ext cx="2249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2. Admin Dashboard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Open Sans"/>
              </a:rPr>
              <a:t>Live clinic KPIs, fast actions, and data-grounded Copilot Insights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0" y="7452360"/>
            <a:ext cx="2249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3. Patient Queue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Open Sans"/>
              </a:rPr>
              <a:t>Eye &amp; Dental patient registry, walk-in/scheduled queues &amp; medical notes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72015" y="7452360"/>
            <a:ext cx="2249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4. Staff Portal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Open Sans"/>
              </a:rPr>
              <a:t>Attendance marking, leave salary deduction rules, and staff task tracking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786615" y="7452360"/>
            <a:ext cx="2249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5. Clinic Inventory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Open Sans"/>
              </a:rPr>
              <a:t>Dual-specialty stock levels, expiry indicators, and vendor purchase orders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292072" y="7452360"/>
            <a:ext cx="22494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Poppins"/>
              </a:rPr>
              <a:t>6. Billing &amp; Reports</a:t>
            </a:r>
          </a:p>
          <a:p>
            <a:pPr algn="ctr"/>
            <a:r>
              <a:rPr sz="750" b="0">
                <a:solidFill>
                  <a:srgbClr val="FFFFFF"/>
                </a:solidFill>
                <a:latin typeface="Open Sans"/>
              </a:rPr>
              <a:t>Invoicing for optical &amp; dental procedures, and automated Excel cloud sync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4" id="14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5" id="15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16" id="16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06 | Future Scope &amp; System Roadmap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4313621" y="-592800"/>
            <a:ext cx="4658921" cy="9218475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-563694" y="1661325"/>
            <a:ext cx="4658921" cy="9218475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638396" y="3192387"/>
            <a:ext cx="1042538" cy="47625"/>
            <a:chOff x="0" y="0"/>
            <a:chExt cx="274578" cy="1254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638396" y="2282636"/>
            <a:ext cx="7132320" cy="73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3800" b="1">
                <a:solidFill>
                  <a:srgbClr val="1F2020"/>
                </a:solidFill>
                <a:latin typeface="Poppins"/>
              </a:rPr>
              <a:t>Future Scope &amp; Roadmap</a:t>
            </a:r>
          </a:p>
        </p:txBody>
      </p:sp>
      <p:pic>
        <p:nvPicPr>
          <p:cNvPr name="Picture 41" id="4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480733" y="4046189"/>
            <a:ext cx="1891960" cy="1891960"/>
          </a:xfrm>
          <a:prstGeom prst="rect">
            <a:avLst/>
          </a:prstGeom>
        </p:spPr>
      </p:pic>
      <p:sp>
        <p:nvSpPr>
          <p:cNvPr name="TextBox 42" id="42"/>
          <p:cNvSpPr txBox="true"/>
          <p:nvPr/>
        </p:nvSpPr>
        <p:spPr>
          <a:xfrm rot="0">
            <a:off x="10638396" y="5925312"/>
            <a:ext cx="1920240" cy="27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950" b="1">
                <a:solidFill>
                  <a:srgbClr val="984800"/>
                </a:solidFill>
                <a:latin typeface="Poppins"/>
              </a:rPr>
              <a:t>Phase 1: AI Copilot</a:t>
            </a:r>
            <a:br/>
            <a:r>
              <a:rPr sz="950" b="1">
                <a:solidFill>
                  <a:srgbClr val="984800"/>
                </a:solidFill>
                <a:latin typeface="Poppins"/>
              </a:rPr>
              <a:t>[Planned]</a:t>
            </a:r>
          </a:p>
        </p:txBody>
      </p:sp>
      <p:pic>
        <p:nvPicPr>
          <p:cNvPr name="Picture 43" id="4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511419" y="4046189"/>
            <a:ext cx="1891960" cy="1891960"/>
          </a:xfrm>
          <a:prstGeom prst="rect">
            <a:avLst/>
          </a:prstGeom>
        </p:spPr>
      </p:pic>
      <p:sp>
        <p:nvSpPr>
          <p:cNvPr name="TextBox 44" id="44"/>
          <p:cNvSpPr txBox="true"/>
          <p:nvPr/>
        </p:nvSpPr>
        <p:spPr>
          <a:xfrm rot="0">
            <a:off x="12669082" y="5925312"/>
            <a:ext cx="1920240" cy="27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950" b="1">
                <a:solidFill>
                  <a:srgbClr val="984800"/>
                </a:solidFill>
                <a:latin typeface="Poppins"/>
              </a:rPr>
              <a:t>Phase 2: Hardware APIs</a:t>
            </a:r>
            <a:br/>
            <a:r>
              <a:rPr sz="950" b="1">
                <a:solidFill>
                  <a:srgbClr val="984800"/>
                </a:solidFill>
                <a:latin typeface="Poppins"/>
              </a:rPr>
              <a:t>[Planned]</a:t>
            </a:r>
          </a:p>
        </p:txBody>
      </p:sp>
      <p:pic>
        <p:nvPicPr>
          <p:cNvPr name="Picture 45" id="4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542808" y="4046189"/>
            <a:ext cx="1891960" cy="1891960"/>
          </a:xfrm>
          <a:prstGeom prst="rect">
            <a:avLst/>
          </a:prstGeom>
        </p:spPr>
      </p:pic>
      <p:sp>
        <p:nvSpPr>
          <p:cNvPr name="TextBox 46" id="46"/>
          <p:cNvSpPr txBox="true"/>
          <p:nvPr/>
        </p:nvSpPr>
        <p:spPr>
          <a:xfrm rot="0">
            <a:off x="14700471" y="5925312"/>
            <a:ext cx="1920240" cy="27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950" b="1">
                <a:solidFill>
                  <a:srgbClr val="984800"/>
                </a:solidFill>
                <a:latin typeface="Poppins"/>
              </a:rPr>
              <a:t>Phase 3: Diagnostics</a:t>
            </a:r>
            <a:br/>
            <a:r>
              <a:rPr sz="950" b="1">
                <a:solidFill>
                  <a:srgbClr val="984800"/>
                </a:solidFill>
                <a:latin typeface="Poppins"/>
              </a:rPr>
              <a:t>[Planned]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38396" y="6931152"/>
            <a:ext cx="6583680" cy="256032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984800"/>
                </a:solidFill>
                <a:latin typeface="Poppins"/>
              </a:rPr>
              <a:t>System Roadmap &amp; Enhancements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F2020"/>
                </a:solidFill>
                <a:latin typeface="Open Sans"/>
              </a:rPr>
              <a:t>• Advanced Conversational AI: LLM-powered Copilot for hands-free voice booking, doctor dictation, and predictive machine learning models for forecasting daily patient footfall and inventory demand.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F2020"/>
                </a:solidFill>
                <a:latin typeface="Open Sans"/>
              </a:rPr>
              <a:t>• Hardware &amp; Official Messaging: Direct API integration with biometric attendance terminals (fingerprint/face recognition) and the official WhatsApp Business Cloud API for automated transactional notices.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F2020"/>
                </a:solidFill>
                <a:latin typeface="Open Sans"/>
              </a:rPr>
              <a:t>• Clinical Imaging &amp; Telehealth: DICOM ophthalmic diagnostic viewer, 3D dental scan rendering, secure patient portal, and multi-branch automated disaster recovery.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8177932" y="8597752"/>
            <a:ext cx="110068" cy="660548"/>
            <a:chOff x="0" y="0"/>
            <a:chExt cx="28989" cy="1739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989" cy="173972"/>
            </a:xfrm>
            <a:custGeom>
              <a:avLst/>
              <a:gdLst/>
              <a:ahLst/>
              <a:cxnLst/>
              <a:rect r="r" b="b" t="t" l="l"/>
              <a:pathLst>
                <a:path h="173972" w="28989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22926" y="5797632"/>
            <a:ext cx="8887018" cy="888701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713388" y="1860297"/>
            <a:ext cx="4627172" cy="9155655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7" id="27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8" id="28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29" id="29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07 | Conclusion &amp; Operational Summary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1427266">
            <a:off x="12617627" y="2278681"/>
            <a:ext cx="3556881" cy="7037901"/>
            <a:chOff x="0" y="0"/>
            <a:chExt cx="2620010" cy="51841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005352" y="3702532"/>
            <a:ext cx="1042538" cy="47625"/>
            <a:chOff x="0" y="0"/>
            <a:chExt cx="274578" cy="1254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005352" y="2792780"/>
            <a:ext cx="6858000" cy="731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3800" b="1">
                <a:solidFill>
                  <a:srgbClr val="1F2020"/>
                </a:solidFill>
                <a:latin typeface="Poppins"/>
              </a:rPr>
              <a:t>Conclusion &amp; Value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2005352" y="4666888"/>
            <a:ext cx="351730" cy="351730"/>
          </a:xfrm>
          <a:custGeom>
            <a:avLst/>
            <a:gdLst/>
            <a:ahLst/>
            <a:cxnLst/>
            <a:rect r="r" b="b" t="t" l="l"/>
            <a:pathLst>
              <a:path h="351730" w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5" id="45"/>
          <p:cNvSpPr txBox="true"/>
          <p:nvPr/>
        </p:nvSpPr>
        <p:spPr>
          <a:xfrm rot="0">
            <a:off x="2643200" y="4654394"/>
            <a:ext cx="3497630" cy="32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+123-456-7890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2005352" y="5481902"/>
            <a:ext cx="351730" cy="351730"/>
          </a:xfrm>
          <a:custGeom>
            <a:avLst/>
            <a:gdLst/>
            <a:ahLst/>
            <a:cxnLst/>
            <a:rect r="r" b="b" t="t" l="l"/>
            <a:pathLst>
              <a:path h="351730" w="351730">
                <a:moveTo>
                  <a:pt x="0" y="0"/>
                </a:moveTo>
                <a:lnTo>
                  <a:pt x="351731" y="0"/>
                </a:lnTo>
                <a:lnTo>
                  <a:pt x="351731" y="351730"/>
                </a:lnTo>
                <a:lnTo>
                  <a:pt x="0" y="3517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7" id="47"/>
          <p:cNvSpPr txBox="true"/>
          <p:nvPr/>
        </p:nvSpPr>
        <p:spPr>
          <a:xfrm rot="0">
            <a:off x="2643200" y="5469408"/>
            <a:ext cx="3497630" cy="32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www.reallygreatsite.com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2005352" y="6293146"/>
            <a:ext cx="351730" cy="351730"/>
          </a:xfrm>
          <a:custGeom>
            <a:avLst/>
            <a:gdLst/>
            <a:ahLst/>
            <a:cxnLst/>
            <a:rect r="r" b="b" t="t" l="l"/>
            <a:pathLst>
              <a:path h="351730" w="351730">
                <a:moveTo>
                  <a:pt x="0" y="0"/>
                </a:moveTo>
                <a:lnTo>
                  <a:pt x="351731" y="0"/>
                </a:lnTo>
                <a:lnTo>
                  <a:pt x="351731" y="351730"/>
                </a:lnTo>
                <a:lnTo>
                  <a:pt x="0" y="351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49" id="49"/>
          <p:cNvSpPr txBox="true"/>
          <p:nvPr/>
        </p:nvSpPr>
        <p:spPr>
          <a:xfrm rot="0">
            <a:off x="2643200" y="6287365"/>
            <a:ext cx="3497630" cy="32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hello@reallygreatsite.com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2005352" y="7104389"/>
            <a:ext cx="351730" cy="351730"/>
          </a:xfrm>
          <a:custGeom>
            <a:avLst/>
            <a:gdLst/>
            <a:ahLst/>
            <a:cxnLst/>
            <a:rect r="r" b="b" t="t" l="l"/>
            <a:pathLst>
              <a:path h="351730" w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51" id="51"/>
          <p:cNvSpPr txBox="true"/>
          <p:nvPr/>
        </p:nvSpPr>
        <p:spPr>
          <a:xfrm rot="0">
            <a:off x="2643200" y="7109681"/>
            <a:ext cx="4743852" cy="32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1F2020"/>
                </a:solidFill>
                <a:latin typeface="Open Sans"/>
                <a:ea typeface="Open Sans"/>
                <a:cs typeface="Open Sans"/>
                <a:sym typeface="Open Sans"/>
              </a:rPr>
              <a:t>123 Anywhere ST., Any City, ST 12345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02536" y="8001000"/>
            <a:ext cx="6217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84800"/>
                </a:solidFill>
                <a:latin typeface="Poppins"/>
              </a:rPr>
              <a:t>"MKES aims to bring clinic operations, automation, and intelligent decision support together in one integrated Android application."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73429" y="486649"/>
            <a:ext cx="274427" cy="260019"/>
          </a:xfrm>
          <a:custGeom>
            <a:avLst/>
            <a:gdLst/>
            <a:ahLst/>
            <a:cxnLst/>
            <a:rect r="r" b="b" t="t" l="l"/>
            <a:pathLst>
              <a:path h="260019" w="274427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-1148802" y="7301218"/>
            <a:ext cx="20585603" cy="5264356"/>
            <a:chOff x="0" y="0"/>
            <a:chExt cx="4274726" cy="10931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274726" cy="1093176"/>
            </a:xfrm>
            <a:custGeom>
              <a:avLst/>
              <a:gdLst/>
              <a:ahLst/>
              <a:cxnLst/>
              <a:rect r="r" b="b" t="t" l="l"/>
              <a:pathLst>
                <a:path h="1093176" w="4274726">
                  <a:moveTo>
                    <a:pt x="2137363" y="0"/>
                  </a:moveTo>
                  <a:cubicBezTo>
                    <a:pt x="956930" y="0"/>
                    <a:pt x="0" y="244716"/>
                    <a:pt x="0" y="546588"/>
                  </a:cubicBezTo>
                  <a:cubicBezTo>
                    <a:pt x="0" y="848460"/>
                    <a:pt x="956930" y="1093176"/>
                    <a:pt x="2137363" y="1093176"/>
                  </a:cubicBezTo>
                  <a:cubicBezTo>
                    <a:pt x="3317796" y="1093176"/>
                    <a:pt x="4274726" y="848460"/>
                    <a:pt x="4274726" y="546588"/>
                  </a:cubicBezTo>
                  <a:cubicBezTo>
                    <a:pt x="4274726" y="244716"/>
                    <a:pt x="3317796" y="0"/>
                    <a:pt x="2137363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400756" y="64385"/>
              <a:ext cx="3473215" cy="9263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7406341" y="4044667"/>
            <a:ext cx="3475318" cy="6876514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0329460" y="5143500"/>
            <a:ext cx="2919979" cy="5777681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5038561" y="5143500"/>
            <a:ext cx="2919979" cy="5777681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12697923" y="6476535"/>
            <a:ext cx="2246277" cy="4444645"/>
            <a:chOff x="0" y="0"/>
            <a:chExt cx="2620010" cy="51841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2" id="52"/>
          <p:cNvGrpSpPr>
            <a:grpSpLocks noChangeAspect="true"/>
          </p:cNvGrpSpPr>
          <p:nvPr/>
        </p:nvGrpSpPr>
        <p:grpSpPr>
          <a:xfrm rot="0">
            <a:off x="3343800" y="6476535"/>
            <a:ext cx="2246277" cy="4444645"/>
            <a:chOff x="0" y="0"/>
            <a:chExt cx="2620010" cy="5184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t="0" r="-58351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039108" y="517674"/>
            <a:ext cx="228600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/>
            <a:r>
              <a:rPr sz="13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940842" y="517674"/>
            <a:ext cx="97846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4" id="64"/>
          <p:cNvSpPr txBox="true"/>
          <p:nvPr/>
        </p:nvSpPr>
        <p:spPr>
          <a:xfrm rot="0">
            <a:off x="14385046" y="517674"/>
            <a:ext cx="1060497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5" id="65"/>
          <p:cNvSpPr txBox="true"/>
          <p:nvPr/>
        </p:nvSpPr>
        <p:spPr>
          <a:xfrm rot="0">
            <a:off x="13154289" y="517674"/>
            <a:ext cx="735456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/>
        </p:txBody>
      </p:sp>
      <p:sp>
        <p:nvSpPr>
          <p:cNvPr name="TextBox 66" id="66"/>
          <p:cNvSpPr txBox="true"/>
          <p:nvPr/>
        </p:nvSpPr>
        <p:spPr>
          <a:xfrm rot="0">
            <a:off x="9601200" y="517674"/>
            <a:ext cx="7132320" cy="197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/>
            <a:r>
              <a:rPr sz="1000" b="0">
                <a:solidFill>
                  <a:srgbClr val="705548"/>
                </a:solidFill>
                <a:latin typeface="Open Sans"/>
              </a:rPr>
              <a:t>08 | References (IEEE Format) &amp; Viva Q&amp;A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828800" y="822960"/>
            <a:ext cx="1463040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/>
            <a:r>
              <a:rPr sz="3600" b="1">
                <a:solidFill>
                  <a:srgbClr val="984800"/>
                </a:solidFill>
                <a:latin typeface="Poppins"/>
              </a:rPr>
              <a:t>Thank You &amp; Viva Q&amp;A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28800" y="1508760"/>
            <a:ext cx="1463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705548"/>
                </a:solidFill>
                <a:latin typeface="Open Sans"/>
              </a:rPr>
              <a:t>Questions, Academic Viva Evaluation, and Application Demonstration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0" y="1965960"/>
            <a:ext cx="7132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984800"/>
                </a:solidFill>
                <a:latin typeface="Poppins"/>
              </a:rPr>
              <a:t>References (IEEE Format):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F2020"/>
                </a:solidFill>
                <a:latin typeface="Open Sans"/>
              </a:rPr>
              <a:t>[1] Google LLC, "Flutter: Build apps for any screen," Flutter Official Documentation, 2024. [Online]. Available: https://docs.flutter.dev. [Accessed: Oct. 2026].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F2020"/>
                </a:solidFill>
                <a:latin typeface="Open Sans"/>
              </a:rPr>
              <a:t>[2] Dart Team, "Dart Programming Language Specification and Core Libraries," Dart.dev, 2024. [Online]. Available: https://dart.dev.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F2020"/>
                </a:solidFill>
                <a:latin typeface="Open Sans"/>
              </a:rPr>
              <a:t>[3] Supabase Inc., "Supabase Architecture, PostgreSQL and Row Level Security Guide," Supabase Documentation, 2024. [Online]. Available: https://supabase.com/docs.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26880" y="1965960"/>
            <a:ext cx="7132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984800"/>
                </a:solidFill>
                <a:latin typeface="Poppins"/>
              </a:rPr>
              <a:t>Verified Literature &amp; Standards: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F2020"/>
                </a:solidFill>
                <a:latin typeface="Open Sans"/>
              </a:rPr>
              <a:t>[4] R. Rouhi et al., "Cloud-Based Electronic Health Record Systems: Architecture and Security Requirements," IEEE Access, vol. 9, 2021.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F2020"/>
                </a:solidFill>
                <a:latin typeface="Open Sans"/>
              </a:rPr>
              <a:t>[5] E. H. Shortliffe and J. J. Cimino, Eds., Biomedical Informatics: Computer Applications in Health Care, 5th ed. Springer, 2021.</a:t>
            </a:r>
          </a:p>
          <a:p>
            <a:pPr algn="l">
              <a:spcAft>
                <a:spcPts val="200"/>
              </a:spcAft>
            </a:pPr>
            <a:r>
              <a:rPr sz="850" b="0">
                <a:solidFill>
                  <a:srgbClr val="1F2020"/>
                </a:solidFill>
                <a:latin typeface="Open Sans"/>
              </a:rPr>
              <a:t>[6] Meta Platforms, "WhatsApp Click to Chat API (wa.me) Integration Guide," Meta for Developers, 2024. [Online]. Available: https://developers.facebook.com.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DAHYXl1z0w4</dc:identifier>
  <dcterms:modified xsi:type="dcterms:W3CDTF">2011-08-01T06:04:30Z</dcterms:modified>
  <cp:revision>1</cp:revision>
  <dc:title>Blue Modern Mobile Application Presentation</dc:title>
</cp:coreProperties>
</file>