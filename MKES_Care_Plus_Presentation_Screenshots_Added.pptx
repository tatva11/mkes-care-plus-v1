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</ns0:sldIdLst>
  <ns0:sldSz cx="12192000" cy="6858000" type="screen4x3"/>
  <ns0:notesSz cx="6858000" cy="9144000"/>
  <ns0:embeddedFontLst>
    <ns0:embeddedFont>
      <ns0:font typeface="Plus Jakarta Sans"/>
      <ns0:bold ns1:id="rIdFont26"/>
      <ns0:boldItalic ns1:id="rIdFont27"/>
      <ns0:regular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26" Type="http://schemas.openxmlformats.org/officeDocument/2006/relationships/font" Target="fonts/5eba5698-59f4-4074-92aa-04cf8d26637a.fntdata"/><Relationship Id="rIdFont27" Type="http://schemas.openxmlformats.org/officeDocument/2006/relationships/font" Target="fonts/e4d6be08-6e44-4bd4-9d87-a2f2672e4f18.fntdata"/><Relationship Id="rIdFont28" Type="http://schemas.openxmlformats.org/officeDocument/2006/relationships/font" Target="fonts/f3e15e3d-54ce-4e6c-b7b0-4f976b5f8f80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4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1381125"/>
            <a:ext cx="3524250" cy="5476875"/>
          </a:xfrm>
          <a:prstGeom prst="roundRect">
            <a:avLst>
              <a:gd name="adj" fmla="val 14054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15700" y="557212"/>
            <a:ext cx="2667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15700" y="633412"/>
            <a:ext cx="2667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552700"/>
            <a:ext cx="6858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29050"/>
            <a:ext cx="4543425" cy="447675"/>
          </a:xfrm>
          <a:prstGeom prst="roundRect">
            <a:avLst>
              <a:gd name="adj" fmla="val 21276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72425" y="1581150"/>
            <a:ext cx="3124200" cy="5276850"/>
          </a:xfrm>
          <a:prstGeom prst="roundRect">
            <a:avLst>
              <a:gd name="adj" fmla="val 12195"/>
            </a:avLst>
          </a:prstGeom>
          <a:solidFill>
            <a:srgbClr val="5DB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lide_01_dash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2425" y="1581150"/>
            <a:ext cx="3124200" cy="52768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0" y="1381125"/>
            <a:ext cx="3524250" cy="66675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381125"/>
            <a:ext cx="66675" cy="5476875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229975" y="1381125"/>
            <a:ext cx="66675" cy="5476875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01025" y="5848350"/>
            <a:ext cx="2667000" cy="590550"/>
          </a:xfrm>
          <a:prstGeom prst="roundRect">
            <a:avLst>
              <a:gd name="adj" fmla="val 25806"/>
            </a:avLst>
          </a:prstGeom>
          <a:solidFill>
            <a:srgbClr val="F2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15437" y="1700212"/>
            <a:ext cx="438150" cy="47625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67887" y="1681162"/>
            <a:ext cx="85725" cy="85725"/>
          </a:xfrm>
          <a:prstGeom prst="roundRect">
            <a:avLst>
              <a:gd name="adj" fmla="val 50000"/>
            </a:avLst>
          </a:prstGeom>
          <a:solidFill>
            <a:srgbClr val="27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1950"/>
            <a:ext cx="495300" cy="495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3967162"/>
            <a:ext cx="1905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425" y="1581150"/>
            <a:ext cx="1600200" cy="285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47800"/>
            <a:ext cx="800100" cy="800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6057900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8250" y="500062"/>
            <a:ext cx="13906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3275" y="519112"/>
            <a:ext cx="4869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574335"/>
                </a:solidFill>
                <a:latin typeface="Plus Jakarta Sans"/>
              </a:rPr>
              <a:t>Academic Project Viva 2025–26 | Department of CSE /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819400"/>
            <a:ext cx="58102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A1A1A"/>
                </a:solidFill>
                <a:latin typeface="Plus Jakarta Sans"/>
              </a:rPr>
              <a:t>An Integrated Android Application for Multi-Specialty Clinic Operations, Workflow Automation and Grounded AI Decision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210300"/>
            <a:ext cx="7739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A4B00"/>
                </a:solidFill>
                <a:latin typeface="Plus Jakarta Sans"/>
              </a:rPr>
              <a:t>Guided by: MRS KRISHNA BHATT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3943350"/>
            <a:ext cx="4893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B1E65"/>
                </a:solidFill>
                <a:latin typeface="Plus Jakarta Sans"/>
              </a:rPr>
              <a:t>Sponsored by Mohankheda Eye and Smile 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305425"/>
            <a:ext cx="1547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111"/>
                </a:solidFill>
                <a:latin typeface="Plus Jakarta Sans"/>
              </a:rPr>
              <a:t>Presented by: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1371600"/>
            <a:ext cx="5625703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9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2057400"/>
            <a:ext cx="53578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11111"/>
                </a:solidFill>
                <a:latin typeface="Plus Jakarta Sans"/>
              </a:rPr>
              <a:t>Trusted Through Time. Caring for Tomorrow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2150" y="5305425"/>
            <a:ext cx="2155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1F1F"/>
                </a:solidFill>
                <a:latin typeface="Plus Jakarta Sans"/>
              </a:rPr>
              <a:t>TIRTHA SHAH (T008)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2150" y="5562600"/>
            <a:ext cx="2155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1F1F"/>
                </a:solidFill>
                <a:latin typeface="Plus Jakarta Sans"/>
              </a:rPr>
              <a:t>RIYA PATEL (T019)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2150" y="5819775"/>
            <a:ext cx="2155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F1F1F"/>
                </a:solidFill>
                <a:latin typeface="Plus Jakarta Sans"/>
              </a:rPr>
              <a:t>TATVA JAIN (T058)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8225" y="5962650"/>
            <a:ext cx="2114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2942"/>
                </a:solidFill>
                <a:latin typeface="Plus Jakarta Sans"/>
              </a:rPr>
              <a:t>Mohankheda Eye &amp; Smile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400175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56159"/>
            <a:ext cx="5381625" cy="962025"/>
          </a:xfrm>
          <a:prstGeom prst="roundRect">
            <a:avLst>
              <a:gd name="adj" fmla="val 1386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2675" y="1656159"/>
            <a:ext cx="5381625" cy="962025"/>
          </a:xfrm>
          <a:prstGeom prst="roundRect">
            <a:avLst>
              <a:gd name="adj" fmla="val 1386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920603"/>
            <a:ext cx="5381625" cy="962025"/>
          </a:xfrm>
          <a:prstGeom prst="roundRect">
            <a:avLst>
              <a:gd name="adj" fmla="val 1386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62675" y="2920603"/>
            <a:ext cx="5381625" cy="962025"/>
          </a:xfrm>
          <a:prstGeom prst="roundRect">
            <a:avLst>
              <a:gd name="adj" fmla="val 1386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185046"/>
            <a:ext cx="5381625" cy="962025"/>
          </a:xfrm>
          <a:prstGeom prst="roundRect">
            <a:avLst>
              <a:gd name="adj" fmla="val 1386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62675" y="4185046"/>
            <a:ext cx="5381625" cy="962025"/>
          </a:xfrm>
          <a:prstGeom prst="roundRect">
            <a:avLst>
              <a:gd name="adj" fmla="val 1386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5449490"/>
            <a:ext cx="5381625" cy="962025"/>
          </a:xfrm>
          <a:prstGeom prst="roundRect">
            <a:avLst>
              <a:gd name="adj" fmla="val 1386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62675" y="5449490"/>
            <a:ext cx="5381625" cy="962025"/>
          </a:xfrm>
          <a:prstGeom prst="roundRect">
            <a:avLst>
              <a:gd name="adj" fmla="val 1386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9150" y="182760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2225" y="182760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150" y="309205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2225" y="309205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150" y="435649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2225" y="435649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150" y="562094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2225" y="562094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8763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Presentation Outline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4900" y="447675"/>
            <a:ext cx="3000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00 | Presentation Overview &amp; Agenda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1918096"/>
            <a:ext cx="457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2550" y="1827609"/>
            <a:ext cx="58132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1. Existing System, Problem Statement &amp; Motivation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2550" y="2084784"/>
            <a:ext cx="4524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3333"/>
                </a:solidFill>
                <a:latin typeface="Plus Jakarta Sans"/>
              </a:rPr>
              <a:t>Operational fragmentation in multi-specialty clinics and project rationale.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2712" y="1918096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5625" y="1827609"/>
            <a:ext cx="5286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2. Proposed System &amp; Functional Pillars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5625" y="2084784"/>
            <a:ext cx="4524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3333"/>
                </a:solidFill>
                <a:latin typeface="Plus Jakarta Sans"/>
              </a:rPr>
              <a:t>Multi-specialty patient workflows, staff governance, dual supply chain, and automation.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637" y="3182540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2550" y="3092053"/>
            <a:ext cx="58132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3. Multi-Tier System Architecture &amp; Data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2550" y="3349228"/>
            <a:ext cx="4524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3333"/>
                </a:solidFill>
                <a:latin typeface="Plus Jakarta Sans"/>
              </a:rPr>
              <a:t>Decoupled presentation layer, reactive Riverpod state, and Supabase cloud infrastructure.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7950" y="3182540"/>
            <a:ext cx="495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5625" y="3092053"/>
            <a:ext cx="5286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4. Production Technology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5625" y="3349228"/>
            <a:ext cx="4524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3333"/>
                </a:solidFill>
                <a:latin typeface="Plus Jakarta Sans"/>
              </a:rPr>
              <a:t>Verified production stack: Flutter 3.3+, Dart, PostgreSQL with RLS, and WhatsApp deep-links.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637" y="4446984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2550" y="4356496"/>
            <a:ext cx="58132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5. Implementation Snapshots &amp; Core Modules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2550" y="4613671"/>
            <a:ext cx="4524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3333"/>
                </a:solidFill>
                <a:latin typeface="Plus Jakarta Sans"/>
              </a:rPr>
              <a:t>High-fidelity views of authentication, admin dashboard, clinical queues, staff, and inventory.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2712" y="4446984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5625" y="4356496"/>
            <a:ext cx="5286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6. Future Scope &amp; System 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5625" y="4613671"/>
            <a:ext cx="4524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3333"/>
                </a:solidFill>
                <a:latin typeface="Plus Jakarta Sans"/>
              </a:rPr>
              <a:t>Conversational LLM Copilot, biometric attendance hardware, and DICOM diagnostic imaging.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711428"/>
            <a:ext cx="47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2550" y="5620940"/>
            <a:ext cx="58132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7. Conclusion &amp; Strategic Value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2550" y="5878115"/>
            <a:ext cx="4524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3333"/>
                </a:solidFill>
                <a:latin typeface="Plus Jakarta Sans"/>
              </a:rPr>
              <a:t>Operational synthesis, elimination of clinical silos, and measurable administrative impact.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2712" y="5711428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5625" y="5620940"/>
            <a:ext cx="5286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8. References (IEEE Format) &amp; Viva Defense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5625" y="5878115"/>
            <a:ext cx="4524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3333"/>
                </a:solidFill>
                <a:latin typeface="Plus Jakarta Sans"/>
              </a:rPr>
              <a:t>Peer-reviewed biomedical informatics literature, official documentation, and oral defense.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195512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24112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0475" y="2424112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100512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00475" y="4100512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62000"/>
            <a:ext cx="10972800" cy="5715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0" y="447675"/>
            <a:ext cx="2595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01 | Existing System &amp;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652587"/>
            <a:ext cx="8251031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Existing System: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662" y="2533650"/>
            <a:ext cx="447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24112"/>
            <a:ext cx="269033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01. Disconnected Records &amp; Registries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81312"/>
            <a:ext cx="25622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3333"/>
                </a:solidFill>
                <a:latin typeface="Plus Jakarta Sans"/>
              </a:rPr>
              <a:t>Patient demographics, treatment sheets, and visit histories are maintained in separate paper logs or standalone spreadsheets, leading to duplicate records and lost longitudinal histories.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250" y="2533650"/>
            <a:ext cx="476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3875" y="2424112"/>
            <a:ext cx="32379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02. Manual Queue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3875" y="2681287"/>
            <a:ext cx="25622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3333"/>
                </a:solidFill>
                <a:latin typeface="Plus Jakarta Sans"/>
              </a:rPr>
              <a:t>Coordination between walk-in queues and pre-booked appointments relies on manual paper slips, creating friction at reception desks and causing unpredictable patient waiting times.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" y="4210050"/>
            <a:ext cx="476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00512"/>
            <a:ext cx="269033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03. Dual-Specialty Supply Disconnect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57712"/>
            <a:ext cx="25622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3333"/>
                </a:solidFill>
                <a:latin typeface="Plus Jakarta Sans"/>
              </a:rPr>
              <a:t>Optical goods (frames/lenses) and dental consumables operate on separate registers without unified low-stock thresholds or batch-expiry tracking, causing stockouts and expired inventory waste.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0487" y="4210050"/>
            <a:ext cx="4857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3875" y="4100512"/>
            <a:ext cx="32379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04. Fragmented Admin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3875" y="4357687"/>
            <a:ext cx="25622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3333"/>
                </a:solidFill>
                <a:latin typeface="Plus Jakarta Sans"/>
              </a:rPr>
              <a:t>Clinic managers lack consolidated daily visibility across patient volume, staff attendance salary deductions, vendor purchase orders, and daily procedure revenue collections.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62162"/>
            <a:ext cx="6191250" cy="1162050"/>
          </a:xfrm>
          <a:prstGeom prst="roundRect">
            <a:avLst>
              <a:gd name="adj" fmla="val 11475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33762"/>
            <a:ext cx="6191250" cy="1162050"/>
          </a:xfrm>
          <a:prstGeom prst="roundRect">
            <a:avLst>
              <a:gd name="adj" fmla="val 11475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805362"/>
            <a:ext cx="6191250" cy="1162050"/>
          </a:xfrm>
          <a:prstGeom prst="roundRect">
            <a:avLst>
              <a:gd name="adj" fmla="val 11475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96150" y="4252912"/>
            <a:ext cx="4286250" cy="1362075"/>
          </a:xfrm>
          <a:prstGeom prst="roundRect">
            <a:avLst>
              <a:gd name="adj" fmla="val 11188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14512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1050" y="2233612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050" y="3605212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050" y="4976812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86650" y="4767262"/>
            <a:ext cx="1054149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12274" y="4767262"/>
            <a:ext cx="1054149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37899" y="4767262"/>
            <a:ext cx="1054149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0" y="1624012"/>
            <a:ext cx="4286250" cy="2476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450" y="1738312"/>
            <a:ext cx="4057650" cy="2247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6999" y="5010150"/>
            <a:ext cx="2190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624" y="5010150"/>
            <a:ext cx="219075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4112" y="4881562"/>
            <a:ext cx="21907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9737" y="4881562"/>
            <a:ext cx="21907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9174" y="4881562"/>
            <a:ext cx="17145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9775" y="447675"/>
            <a:ext cx="1869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01 | 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271587"/>
            <a:ext cx="812601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6650" y="4443412"/>
            <a:ext cx="47053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8B1E65"/>
                </a:solidFill>
                <a:latin typeface="Plus Jakarta Sans"/>
              </a:rPr>
              <a:t>Root Cause: Disconnected Clinic Terminals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50" y="2333625"/>
            <a:ext cx="457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3500" y="2233612"/>
            <a:ext cx="69508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Operational Silos in Multi-Specialty Care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3500" y="2509837"/>
            <a:ext cx="53911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Eye and dental clinics share administrative staff and physical facilities but operate as disconnected silos with incompatible record formats, leading to redundant entries, patient confusion, and lost clinical history.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062" y="3705225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3500" y="3605212"/>
            <a:ext cx="69508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Lack of Real-Time Queue &amp; Task Synchronization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3500" y="3881437"/>
            <a:ext cx="53911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The absence of real-time multi-terminal data synchronization between reception desks, doctor consultation rooms, and billing stations leads to severe communication delays, bottlenecks, and uncoordinated queues.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062" y="5076825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4976812"/>
            <a:ext cx="69508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High Administrative Friction &amp; Compliance Burden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5253037"/>
            <a:ext cx="53911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Manual attendance tracking, complex manual salary deduction calculations for leaves, and unautomated vendor follow-ups consume hours of staff time that should be dedicated to patient care.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8075" y="5138737"/>
            <a:ext cx="11112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F1F1F"/>
                </a:solidFill>
                <a:latin typeface="Plus Jakarta Sans"/>
              </a:rPr>
              <a:t>Reception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3699" y="5138737"/>
            <a:ext cx="11112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F1F1F"/>
                </a:solidFill>
                <a:latin typeface="Plus Jakarta Sans"/>
              </a:rPr>
              <a:t>Eye Care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9324" y="5138737"/>
            <a:ext cx="11112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F1F1F"/>
                </a:solidFill>
                <a:latin typeface="Plus Jakarta Sans"/>
              </a:rPr>
              <a:t>Dental Unit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47825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857375"/>
            <a:ext cx="6191250" cy="762000"/>
          </a:xfrm>
          <a:prstGeom prst="roundRect">
            <a:avLst>
              <a:gd name="adj" fmla="val 15000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752725"/>
            <a:ext cx="6191250" cy="762000"/>
          </a:xfrm>
          <a:prstGeom prst="roundRect">
            <a:avLst>
              <a:gd name="adj" fmla="val 15000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648075"/>
            <a:ext cx="6191250" cy="962025"/>
          </a:xfrm>
          <a:prstGeom prst="roundRect">
            <a:avLst>
              <a:gd name="adj" fmla="val 1188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743450"/>
            <a:ext cx="6191250" cy="762000"/>
          </a:xfrm>
          <a:prstGeom prst="roundRect">
            <a:avLst>
              <a:gd name="adj" fmla="val 15000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62000"/>
            <a:ext cx="10972800" cy="5715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8175" y="447675"/>
            <a:ext cx="3583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01 | Project Motivation &amp; Strategic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715000"/>
            <a:ext cx="6286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1" u="none">
                <a:solidFill>
                  <a:srgbClr val="8B1E65"/>
                </a:solidFill>
                <a:latin typeface="Plus Jakarta Sans"/>
              </a:rPr>
              <a:t> "MKES transforms fragmented eye and dental practices into a unified, data-driven healthcare operation."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104900"/>
            <a:ext cx="812601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Project Motivation &amp; Strategic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2009775"/>
            <a:ext cx="76259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Mobile-First Clinical Governance: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266950"/>
            <a:ext cx="726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Unified Android tablet &amp; phone interface for doctors and desk staff.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905125"/>
            <a:ext cx="76259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Real-Time Cloud Synchronization: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162300"/>
            <a:ext cx="726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Centralized PostgreSQL backend ensuring instant queue and record updates.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800475"/>
            <a:ext cx="76259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Automated Operational Workflows: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057650"/>
            <a:ext cx="5905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Deep-linked WhatsApp notices and scheduled multi-sheet Excel cloud backups.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4895850"/>
            <a:ext cx="76259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Rule-Grounded Decision Support: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5153025"/>
            <a:ext cx="726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AI Copilot surfacing low inventory, expiring batches, and overdue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04925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745456"/>
            <a:ext cx="5334000" cy="1647825"/>
          </a:xfrm>
          <a:prstGeom prst="roundRect">
            <a:avLst>
              <a:gd name="adj" fmla="val 10404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1745456"/>
            <a:ext cx="5334000" cy="1647825"/>
          </a:xfrm>
          <a:prstGeom prst="roundRect">
            <a:avLst>
              <a:gd name="adj" fmla="val 10404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26743"/>
            <a:ext cx="5334000" cy="1647825"/>
          </a:xfrm>
          <a:prstGeom prst="roundRect">
            <a:avLst>
              <a:gd name="adj" fmla="val 10404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4426743"/>
            <a:ext cx="5334000" cy="1647825"/>
          </a:xfrm>
          <a:prstGeom prst="roundRect">
            <a:avLst>
              <a:gd name="adj" fmla="val 10404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6300" y="20121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38900" y="20121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1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6300" y="469344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1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38900" y="469344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Proposed System: Core Pillars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3925" y="447675"/>
            <a:ext cx="3226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02 | Proposed System &amp; Functional Pillars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2131218"/>
            <a:ext cx="476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950" y="2012156"/>
            <a:ext cx="54756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A4B00"/>
                </a:solidFill>
                <a:latin typeface="Plus Jakarta Sans"/>
              </a:rPr>
              <a:t>01. Multi-Specialty Clinical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950" y="2326481"/>
            <a:ext cx="42672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Dedicated patient numbering schemes ('EYE-' vs 'DEN-'), digital triage registries, scheduled vs walk-in queues, ophthalmic refraction logs, and dental procedure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2131218"/>
            <a:ext cx="514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7550" y="2012156"/>
            <a:ext cx="51244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8B1E65"/>
                </a:solidFill>
                <a:latin typeface="Plus Jakarta Sans"/>
              </a:rPr>
              <a:t>02. Staff Attendance &amp; Payroll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7550" y="2326481"/>
            <a:ext cx="42672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Daily biometric/tap attendance logging, automated leave-to-salary deduction calculations according to clinic rules, dynamic staff shift allocation, and task delegation tracking.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" y="4812506"/>
            <a:ext cx="514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4950" y="4693443"/>
            <a:ext cx="54756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8B1E65"/>
                </a:solidFill>
                <a:latin typeface="Plus Jakarta Sans"/>
              </a:rPr>
              <a:t>03. Dual-Specialty Supply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4950" y="5007768"/>
            <a:ext cx="42672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Real-time tracking of optical frames, prescription lenses, dental burs, and restorative materials with automated reorder alerts, batch expiry warnings, and vendor purchase orders.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8437" y="4812506"/>
            <a:ext cx="523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7550" y="4693443"/>
            <a:ext cx="51244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A4B00"/>
                </a:solidFill>
                <a:latin typeface="Plus Jakarta Sans"/>
              </a:rPr>
              <a:t>04. Integrated Invoicing &amp; Cloud 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7550" y="5007768"/>
            <a:ext cx="42672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Multi-item invoice generation (consultations, optical goods, dental procedures) paired with automated background Excel spreadsheet generation and cloud storage backup.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71687"/>
            <a:ext cx="6191250" cy="1162050"/>
          </a:xfrm>
          <a:prstGeom prst="roundRect">
            <a:avLst>
              <a:gd name="adj" fmla="val 11475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24237"/>
            <a:ext cx="6191250" cy="1162050"/>
          </a:xfrm>
          <a:prstGeom prst="roundRect">
            <a:avLst>
              <a:gd name="adj" fmla="val 11475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76787"/>
            <a:ext cx="6191250" cy="1162050"/>
          </a:xfrm>
          <a:prstGeom prst="roundRect">
            <a:avLst>
              <a:gd name="adj" fmla="val 11475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43087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050" y="2243137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1050" y="3595687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050" y="4948237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62000"/>
            <a:ext cx="10972800" cy="5715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6825" y="447675"/>
            <a:ext cx="2797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02 | Automation &amp; AI Copilot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300162"/>
            <a:ext cx="812601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AI Copilot &amp;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2343150"/>
            <a:ext cx="457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2243137"/>
            <a:ext cx="69508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Rule-Grounded Copilot Insights (Core Differentiator)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2519362"/>
            <a:ext cx="53911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Synthesizes live database transactions daily to generate prioritized alerts: flags critical stock depletion, identifies batches expiring within 30 days, highlights unassigned tasks, and detects queue surges.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062" y="3695700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3595687"/>
            <a:ext cx="69508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Automated WhatsApp Communication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3871912"/>
            <a:ext cx="53911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Leverages deep-linked 'wa.me' URL protocols to generate one-tap personalized patient appointment reminders, spectacle collection notifications, and vendor purchase orders without manual typing.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062" y="5048250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4948237"/>
            <a:ext cx="69508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Automated Excel Cloud Synchronization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5224462"/>
            <a:ext cx="53911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Custom 'ExcelWorkbookBuilder' compiles multi-sheet clinical, inventory, and revenue audit spreadsheets on device, streaming them directly into Supabase 'clinic-excel-sync' storage for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04925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43162"/>
            <a:ext cx="3886200" cy="2933700"/>
          </a:xfrm>
          <a:prstGeom prst="roundRect">
            <a:avLst>
              <a:gd name="adj" fmla="val 5844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96200" y="2176462"/>
            <a:ext cx="3886200" cy="3467100"/>
          </a:xfrm>
          <a:prstGeom prst="roundRect">
            <a:avLst>
              <a:gd name="adj" fmla="val 4945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62500" y="4833937"/>
            <a:ext cx="2667000" cy="361950"/>
          </a:xfrm>
          <a:prstGeom prst="roundRect">
            <a:avLst>
              <a:gd name="adj" fmla="val 26315"/>
            </a:avLst>
          </a:prstGeom>
          <a:solidFill>
            <a:srgbClr val="8B1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2624137"/>
            <a:ext cx="2476500" cy="2095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719387"/>
            <a:ext cx="1905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2738437"/>
            <a:ext cx="2247900" cy="1866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00" y="2452687"/>
            <a:ext cx="21907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System Architecture: 2-Tier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1050" y="447675"/>
            <a:ext cx="3405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03 | System Architecture &amp; Tier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1099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Flutter SDK (v3.3+) native Android rendering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6433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Riverpod (v2.6.1) reactive state &amp; dependency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1767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Material 3 UI Engine with MKES AppColors design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7101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17 modular domain features across clinical, staff &amp; supply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2900" y="28432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Supabase PostgreSQL 15+ with Row-Level Security (RLS)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2900" y="33766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Realtime WebSocket channels for instant queue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2900" y="39100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Storage Bucket: 'clinic-excel-sync' for XLSX audits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44434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ExcelWorkbookBuilder multi-sheet report exporter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2900" y="49768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Deep-Link communication layer via WhatsApp 'wa.me'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100" y="2709862"/>
            <a:ext cx="363795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A4B00"/>
                </a:solidFill>
                <a:latin typeface="Plus Jakarta Sans"/>
              </a:rPr>
              <a:t>Tier 1: Client &amp;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9625" y="4929187"/>
            <a:ext cx="2952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HTTPS REST + Realtime WebSockets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6275" y="2443162"/>
            <a:ext cx="372546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8B1E65"/>
                </a:solidFill>
                <a:latin typeface="Plus Jakarta Sans"/>
              </a:rPr>
              <a:t>Tier 2: Backend, DB &amp;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04925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16906"/>
            <a:ext cx="5334000" cy="1304925"/>
          </a:xfrm>
          <a:prstGeom prst="roundRect">
            <a:avLst>
              <a:gd name="adj" fmla="val 11678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1916906"/>
            <a:ext cx="5334000" cy="1304925"/>
          </a:xfrm>
          <a:prstGeom prst="roundRect">
            <a:avLst>
              <a:gd name="adj" fmla="val 11678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98193"/>
            <a:ext cx="5334000" cy="1304925"/>
          </a:xfrm>
          <a:prstGeom prst="roundRect">
            <a:avLst>
              <a:gd name="adj" fmla="val 11678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4598193"/>
            <a:ext cx="5334000" cy="1304925"/>
          </a:xfrm>
          <a:prstGeom prst="roundRect">
            <a:avLst>
              <a:gd name="adj" fmla="val 11678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Data Flow &amp; Security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34475" y="447675"/>
            <a:ext cx="2488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03 | Data Flow &amp; Security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145506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A4B00"/>
                </a:solidFill>
                <a:latin typeface="Plus Jakarta Sans"/>
              </a:rPr>
              <a:t>1. Unidirectional Reactive State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50306"/>
            <a:ext cx="49720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User interactions trigger Riverpod StateNotifiers, causing immediate optimistic UI updates while asynchronously dispatching parameterized queries to Supabase via secure HTTPS/REST.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5506"/>
            <a:ext cx="579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8B1E65"/>
                </a:solidFill>
                <a:latin typeface="Plus Jakarta Sans"/>
              </a:rPr>
              <a:t>2. Real-Time WebSocket Event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50306"/>
            <a:ext cx="49720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PostgreSQL write operations emit replication events over persistent WebSockets, synchronizing patient queue numbers across doctor consultation rooms and reception tablets in milliseconds.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826793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8B1E65"/>
                </a:solidFill>
                <a:latin typeface="Plus Jakarta Sans"/>
              </a:rPr>
              <a:t>3. Zero-Trust Row-Level Security (RLS)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5131593"/>
            <a:ext cx="49720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Security is enforced strictly at the database engine level via JWT claims. Receptionists are restricted from modifying medical diagnoses, and doctors have scoped access to their assigned specialty.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26793"/>
            <a:ext cx="579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A4B00"/>
                </a:solidFill>
                <a:latin typeface="Plus Jakarta Sans"/>
              </a:rPr>
              <a:t>4. Automated Multi-Sheet Cloud Export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31593"/>
            <a:ext cx="49720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The 'ExcelWorkbookBuilder' constructs normalized multi-tab workbooks (Patients, Prescriptions, Financials) entirely in memory, uploading encrypted snapshots to Supabase Cloud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14975"/>
            <a:ext cx="10972800" cy="962025"/>
          </a:xfrm>
          <a:prstGeom prst="roundRect">
            <a:avLst>
              <a:gd name="adj" fmla="val 1386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304925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176462"/>
            <a:ext cx="5353050" cy="2505075"/>
          </a:xfrm>
          <a:prstGeom prst="roundRect">
            <a:avLst>
              <a:gd name="adj" fmla="val 6844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29350" y="2176462"/>
            <a:ext cx="5353050" cy="2505075"/>
          </a:xfrm>
          <a:prstGeom prst="roundRect">
            <a:avLst>
              <a:gd name="adj" fmla="val 6844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6300" y="2443162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6050" y="2443162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8B1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62637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Frontend &amp; Mobile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8175" y="447675"/>
            <a:ext cx="3583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04 | Production Technology Stack —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957512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Flutter SDK (v3.3+) &amp; Dart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271837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Riverpod (v2.6.1) State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586162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Material 3 UI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900487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Google Fonts (Poppins / Inter)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214812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flutter_dotenv &amp; intl Formatting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6050" y="2957512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MKES AppColors Design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050" y="3271837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SharedPreferences Session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3586162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Custom Form Validation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3900487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Multi-Specialty Currency Formatter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6050" y="4214812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High-Performance Canvas Rendering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5686425"/>
            <a:ext cx="10934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Verified Production Mobile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5943600"/>
            <a:ext cx="10191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Every technology is verified directly from the production repository: pubspec.yaml, Riverpod providers, Material 3 design tokens, and local cache handlers.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9700" y="2514600"/>
            <a:ext cx="3437929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9A4B00"/>
                </a:solidFill>
                <a:latin typeface="Plus Jakarta Sans"/>
              </a:rPr>
              <a:t>Client &amp; State Frameworks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9450" y="2514600"/>
            <a:ext cx="3350418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8B1E65"/>
                </a:solidFill>
                <a:latin typeface="Plus Jakarta Sans"/>
              </a:rPr>
              <a:t>UI Engine &amp; Local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2543175"/>
            <a:ext cx="457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6062" y="2543175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04925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26431"/>
            <a:ext cx="5334000" cy="1285875"/>
          </a:xfrm>
          <a:prstGeom prst="roundRect">
            <a:avLst>
              <a:gd name="adj" fmla="val 1185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1926431"/>
            <a:ext cx="5334000" cy="1285875"/>
          </a:xfrm>
          <a:prstGeom prst="roundRect">
            <a:avLst>
              <a:gd name="adj" fmla="val 1185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07718"/>
            <a:ext cx="5334000" cy="1285875"/>
          </a:xfrm>
          <a:prstGeom prst="roundRect">
            <a:avLst>
              <a:gd name="adj" fmla="val 1185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4607718"/>
            <a:ext cx="5334000" cy="1285875"/>
          </a:xfrm>
          <a:prstGeom prst="roundRect">
            <a:avLst>
              <a:gd name="adj" fmla="val 1185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200" y="2155031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2155031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B1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" y="483631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B1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483631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Backend, Database &amp; Cloud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3350" y="447675"/>
            <a:ext cx="4214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04 | Production Technology Stack — Backend &amp;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2264568"/>
            <a:ext cx="457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2155031"/>
            <a:ext cx="56507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A4B00"/>
                </a:solidFill>
                <a:latin typeface="Plus Jakarta Sans"/>
              </a:rPr>
              <a:t>01. Supabase PostgreSQL 15+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2440781"/>
            <a:ext cx="44005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Enterprise-grade relational database managing 15+ normalized relational tables (patients, appointments, staff, inventory, bills) with ACID transaction integrity.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337" y="2264568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2300" y="2155031"/>
            <a:ext cx="5219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8B1E65"/>
                </a:solidFill>
                <a:latin typeface="Plus Jakarta Sans"/>
              </a:rPr>
              <a:t>02. Row-Level Security (RLS)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2300" y="2440781"/>
            <a:ext cx="44005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Granular access control policies executed within PostgreSQL, validating JWT claims to isolate sensitive ophthalmic and dental records according to user roles.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737" y="4945856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4836318"/>
            <a:ext cx="56507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8B1E65"/>
                </a:solidFill>
                <a:latin typeface="Plus Jakarta Sans"/>
              </a:rPr>
              <a:t>03. Cloud Storage &amp; Sync Bucket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9700" y="5122068"/>
            <a:ext cx="44005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Supabase Storage bucket ('clinic-excel-sync') storing encrypted, timestamped Excel operational workbooks generated automatically by the client device.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4945856"/>
            <a:ext cx="495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2300" y="4836318"/>
            <a:ext cx="5219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9A4B00"/>
                </a:solidFill>
                <a:latin typeface="Plus Jakarta Sans"/>
              </a:rPr>
              <a:t>04. Communication &amp; AI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2300" y="5122068"/>
            <a:ext cx="44005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'url_launcher' powering deep-linked WhatsApp ('wa.me') transactional communications, paired with an extensible modular provider layer prepared for LLM API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71675"/>
            <a:ext cx="1717625" cy="3895725"/>
          </a:xfrm>
          <a:prstGeom prst="roundRect">
            <a:avLst>
              <a:gd name="adj" fmla="val 8872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60575" y="1957387"/>
            <a:ext cx="1717625" cy="3924300"/>
          </a:xfrm>
          <a:prstGeom prst="roundRect">
            <a:avLst>
              <a:gd name="adj" fmla="val 8872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1550" y="2057400"/>
            <a:ext cx="1717625" cy="3724275"/>
          </a:xfrm>
          <a:prstGeom prst="roundRect">
            <a:avLst>
              <a:gd name="adj" fmla="val 8872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62526" y="2057400"/>
            <a:ext cx="1717625" cy="3724275"/>
          </a:xfrm>
          <a:prstGeom prst="roundRect">
            <a:avLst>
              <a:gd name="adj" fmla="val 8872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13501" y="2057400"/>
            <a:ext cx="1717625" cy="3724275"/>
          </a:xfrm>
          <a:prstGeom prst="roundRect">
            <a:avLst>
              <a:gd name="adj" fmla="val 8872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64476" y="1971675"/>
            <a:ext cx="1717625" cy="3895725"/>
          </a:xfrm>
          <a:prstGeom prst="roundRect">
            <a:avLst>
              <a:gd name="adj" fmla="val 8872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1588" y="2105025"/>
            <a:ext cx="1333500" cy="2381250"/>
          </a:xfrm>
          <a:prstGeom prst="roundRect">
            <a:avLst>
              <a:gd name="adj" fmla="val 1571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2563" y="2090737"/>
            <a:ext cx="1333500" cy="2381250"/>
          </a:xfrm>
          <a:prstGeom prst="roundRect">
            <a:avLst>
              <a:gd name="adj" fmla="val 1571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3539" y="2190750"/>
            <a:ext cx="1333500" cy="2381250"/>
          </a:xfrm>
          <a:prstGeom prst="roundRect">
            <a:avLst>
              <a:gd name="adj" fmla="val 1571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4514" y="2190750"/>
            <a:ext cx="1333500" cy="2381250"/>
          </a:xfrm>
          <a:prstGeom prst="roundRect">
            <a:avLst>
              <a:gd name="adj" fmla="val 1571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05489" y="2190750"/>
            <a:ext cx="1333500" cy="2381250"/>
          </a:xfrm>
          <a:prstGeom prst="roundRect">
            <a:avLst>
              <a:gd name="adj" fmla="val 1571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6465" y="2105025"/>
            <a:ext cx="1333500" cy="2381250"/>
          </a:xfrm>
          <a:prstGeom prst="roundRect">
            <a:avLst>
              <a:gd name="adj" fmla="val 1571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53800" y="42386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53800" y="50006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8738" y="2162175"/>
            <a:ext cx="1219200" cy="226695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lide_12_slot_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38" y="2162175"/>
            <a:ext cx="1219200" cy="22669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709713" y="2147887"/>
            <a:ext cx="1219200" cy="226695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lide_12_slot_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9713" y="2147887"/>
            <a:ext cx="1219200" cy="22669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560689" y="2247900"/>
            <a:ext cx="1219200" cy="226695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lide_12_slot_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0689" y="2247900"/>
            <a:ext cx="1219200" cy="22669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11664" y="2247900"/>
            <a:ext cx="1219200" cy="226695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lide_12_slot_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1664" y="2247900"/>
            <a:ext cx="1219200" cy="226695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262639" y="2247900"/>
            <a:ext cx="1219200" cy="226695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lide_12_slot_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2639" y="2247900"/>
            <a:ext cx="1219200" cy="226695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113615" y="2162175"/>
            <a:ext cx="1219200" cy="226695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lide_12_slot_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13615" y="2162175"/>
            <a:ext cx="1219200" cy="2266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5275"/>
            <a:ext cx="361950" cy="3619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F1F1F"/>
                </a:solidFill>
                <a:latin typeface="Plus Jakarta Sans"/>
              </a:rPr>
              <a:t>Implementation: Six Core 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11049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574335"/>
                </a:solidFill>
                <a:latin typeface="Plus Jakarta Sans"/>
              </a:rPr>
              <a:t>Six production-ready Android modules built with Flutter 3.3+ and Supabase PostgreSQL. Phone frames prepared for screenshot insertion.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" y="37623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6725" y="390525"/>
            <a:ext cx="3798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05 | Implementation Snapshots — Core Modules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245" y="4581525"/>
            <a:ext cx="14801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A4B00"/>
                </a:solidFill>
                <a:latin typeface="Plus Jakarta Sans"/>
              </a:rPr>
              <a:t>1. Auth &amp; Roles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584" y="4876800"/>
            <a:ext cx="1813656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3333"/>
                </a:solidFill>
                <a:latin typeface="Plus Jakarta Sans"/>
              </a:rPr>
              <a:t>Multi-role login (Admin, Doctor, Staff, Reception) with persistent session tokens.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67218" y="4567237"/>
            <a:ext cx="190433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A4B00"/>
                </a:solidFill>
                <a:latin typeface="Plus Jakarta Sans"/>
              </a:rPr>
              <a:t>2. Admin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12559" y="5062537"/>
            <a:ext cx="18136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3333"/>
                </a:solidFill>
                <a:latin typeface="Plus Jakarta Sans"/>
              </a:rPr>
              <a:t>Live clinic KPIs, fast action buttons, and rule-grounded Copilot Insights.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2678" y="4667250"/>
            <a:ext cx="177522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A4B00"/>
                </a:solidFill>
                <a:latin typeface="Plus Jakarta Sans"/>
              </a:rPr>
              <a:t>3. Patient Queues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3535" y="4962525"/>
            <a:ext cx="18136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3333"/>
                </a:solidFill>
                <a:latin typeface="Plus Jakarta Sans"/>
              </a:rPr>
              <a:t>Dual-specialty patient registry, triage numbering, and doctor consultation queues.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6177" y="4667250"/>
            <a:ext cx="139017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A4B00"/>
                </a:solidFill>
                <a:latin typeface="Plus Jakarta Sans"/>
              </a:rPr>
              <a:t>4. Staff Portal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14510" y="4962525"/>
            <a:ext cx="18136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3333"/>
                </a:solidFill>
                <a:latin typeface="Plus Jakarta Sans"/>
              </a:rPr>
              <a:t>Attendance marking, leave salary deduction rules, and dynamic task tracking.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2127" y="4667250"/>
            <a:ext cx="1800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A4B00"/>
                </a:solidFill>
                <a:latin typeface="Plus Jakarta Sans"/>
              </a:rPr>
              <a:t>5. Clinic Inventory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65485" y="4962525"/>
            <a:ext cx="18136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3333"/>
                </a:solidFill>
                <a:latin typeface="Plus Jakarta Sans"/>
              </a:rPr>
              <a:t>Dual-specialty stock levels, expiry indicators, and vendor purchase orders.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1848" y="4581525"/>
            <a:ext cx="186273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A4B00"/>
                </a:solidFill>
                <a:latin typeface="Plus Jakarta Sans"/>
              </a:rPr>
              <a:t>6. Billing &amp; 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6461" y="4876800"/>
            <a:ext cx="1813656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3333"/>
                </a:solidFill>
                <a:latin typeface="Plus Jakarta Sans"/>
              </a:rPr>
              <a:t>Multi-procedure invoicing, payment tracking, and automated Excel cloud sync.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04925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09812"/>
            <a:ext cx="3886200" cy="3200400"/>
          </a:xfrm>
          <a:prstGeom prst="roundRect">
            <a:avLst>
              <a:gd name="adj" fmla="val 5357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62500" y="2386012"/>
            <a:ext cx="2667000" cy="3048000"/>
          </a:xfrm>
          <a:prstGeom prst="roundRect">
            <a:avLst>
              <a:gd name="adj" fmla="val 6428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96200" y="2443162"/>
            <a:ext cx="3886200" cy="2933700"/>
          </a:xfrm>
          <a:prstGeom prst="roundRect">
            <a:avLst>
              <a:gd name="adj" fmla="val 5844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719387"/>
            <a:ext cx="2762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00" y="2719387"/>
            <a:ext cx="21907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Clinical Modules: Eye &amp; Dental 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6725" y="447675"/>
            <a:ext cx="3798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05 | Implementation Detail — Clinical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24326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Department-specific 'EYE-' patient registry &amp;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77666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Visual acuity &amp; refraction parameter capture (Sph/Cyl/Axis)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31006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Optical frame &amp; prescription lens dispensing linkage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84346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Pre-operative eye surgery checklists &amp; follow-up notices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4891087"/>
            <a:ext cx="2952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8B1E65"/>
                </a:solidFill>
                <a:latin typeface="Plus Jakarta Sans"/>
              </a:rPr>
              <a:t>Dual-Specialty Triage ('EYE-' &amp; 'DEN-')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2900" y="31099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Department-specific 'DEN-' patient numbering &amp;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2900" y="36433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Procedure logging: scaling, fillings, root canals, extractions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2900" y="41767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Dental laboratory case tracking &amp; return date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4710112"/>
            <a:ext cx="344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• Chairside consumable deduction upon visit 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6825" y="2576512"/>
            <a:ext cx="3210401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A4B00"/>
                </a:solidFill>
                <a:latin typeface="Plus Jakarta Sans"/>
              </a:rPr>
              <a:t>Ophthalmology (Eye Care)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5" y="2709862"/>
            <a:ext cx="338792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8B1E65"/>
                </a:solidFill>
                <a:latin typeface="Plus Jakarta Sans"/>
              </a:rPr>
              <a:t>Dental Operatory Module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14000" y="2480000"/>
            <a:ext cx="1102000" cy="2280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lide_13_phone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9000" y="2525000"/>
            <a:ext cx="1012000" cy="2190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335000" y="2535000"/>
            <a:ext cx="260000" cy="350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6000" y="2480000"/>
            <a:ext cx="1102000" cy="2280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lide_13_phone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1000" y="2525000"/>
            <a:ext cx="1012000" cy="21900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597000" y="2535000"/>
            <a:ext cx="260000" cy="350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296150" y="1776412"/>
            <a:ext cx="4286250" cy="3686175"/>
          </a:xfrm>
          <a:prstGeom prst="roundRect">
            <a:avLst>
              <a:gd name="adj" fmla="val 5167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552700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05700" y="4471987"/>
            <a:ext cx="188595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86900" y="4471987"/>
            <a:ext cx="188595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7813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00475" y="27813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40862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00475" y="40862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0025" y="447675"/>
            <a:ext cx="4131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05 | Implementation Detail — Workforce &amp;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700" y="1985962"/>
            <a:ext cx="4686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Inventory Threshold &amp; Batch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009775"/>
            <a:ext cx="8251031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Workforce &amp; Supply Chain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0" y="4586287"/>
            <a:ext cx="207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Plus Jakarta Sans"/>
              </a:rPr>
              <a:t>30-Day Expiry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0" y="4795837"/>
            <a:ext cx="1752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44444"/>
                </a:solidFill>
                <a:latin typeface="Plus Jakarta Sans"/>
              </a:rPr>
              <a:t>Auto-flags dental &amp; eye batches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586287"/>
            <a:ext cx="207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A4B00"/>
                </a:solidFill>
                <a:latin typeface="Plus Jakarta Sans"/>
              </a:rPr>
              <a:t>Auto Payroll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795837"/>
            <a:ext cx="1752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44444"/>
                </a:solidFill>
                <a:latin typeface="Plus Jakarta Sans"/>
              </a:rPr>
              <a:t>Leave &amp; half-day rule deductions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662" y="2890837"/>
            <a:ext cx="447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781300"/>
            <a:ext cx="32379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01. Daily Attendance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038475"/>
            <a:ext cx="25622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3333"/>
                </a:solidFill>
                <a:latin typeface="Plus Jakarta Sans"/>
              </a:rPr>
              <a:t>One-tap mobile check-in/out with exact timestamp validation, logging present, absent, half-day, and on-leave statuses across clinic departments.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5250" y="2890837"/>
            <a:ext cx="476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3875" y="2781300"/>
            <a:ext cx="32379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02. Salary Deduction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3875" y="3038475"/>
            <a:ext cx="25622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3333"/>
                </a:solidFill>
                <a:latin typeface="Plus Jakarta Sans"/>
              </a:rPr>
              <a:t>Calculates exact payroll deductions for unapproved leaves and half-days based on configurable clinic fiscal policies, eliminating manual payroll discrepancies.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375" y="4195762"/>
            <a:ext cx="476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086225"/>
            <a:ext cx="32379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03. Dual-Specialty 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343400"/>
            <a:ext cx="25622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3333"/>
                </a:solidFill>
                <a:latin typeface="Plus Jakarta Sans"/>
              </a:rPr>
              <a:t>Categorized catalog tracking optical frames, ophthalmic solutions, dental composites, and surgical consumables with real-time stock decrements upon billing.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0487" y="4195762"/>
            <a:ext cx="4857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3875" y="4086225"/>
            <a:ext cx="269033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04. Batch Expiry &amp; Low-Stock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3875" y="4543425"/>
            <a:ext cx="25622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3333"/>
                </a:solidFill>
                <a:latin typeface="Plus Jakarta Sans"/>
              </a:rPr>
              <a:t>Visual threshold alerts flagging critical low inventory levels and highlighting consumable batches approaching expiration within 30 or 60 days.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87775" y="2310000"/>
            <a:ext cx="981000" cy="2030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lide_14_phon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775" y="2350000"/>
            <a:ext cx="901000" cy="195000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163275" y="2358000"/>
            <a:ext cx="230000" cy="320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48775" y="2310000"/>
            <a:ext cx="981000" cy="2030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lide_14_phone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775" y="2350000"/>
            <a:ext cx="901000" cy="19500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9324275" y="2358000"/>
            <a:ext cx="230000" cy="320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09775" y="2310000"/>
            <a:ext cx="981000" cy="2030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lide_14_phone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775" y="2350000"/>
            <a:ext cx="901000" cy="19500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0485275" y="2358000"/>
            <a:ext cx="230000" cy="320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390876"/>
            <a:ext cx="10972800" cy="2085975"/>
          </a:xfrm>
          <a:prstGeom prst="roundRect">
            <a:avLst>
              <a:gd name="adj" fmla="val 8219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889075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3652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Future Scope &amp; Strategic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600426"/>
            <a:ext cx="11315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A4B00"/>
                </a:solidFill>
                <a:latin typeface="Plus Jakarta Sans"/>
              </a:rPr>
              <a:t>Planned Engineering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952851"/>
            <a:ext cx="10534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222222"/>
                </a:solidFill>
                <a:latin typeface="Plus Jakarta Sans"/>
              </a:rPr>
              <a:t>Advanced Conversational AI:</a:t>
            </a:r>
            <a:r>
              <a:rPr b="0" sz="1125" i="0" u="none">
                <a:solidFill>
                  <a:srgbClr val="222222"/>
                </a:solidFill>
                <a:latin typeface="Plus Jakarta Sans"/>
              </a:rPr>
              <a:t> Integration of LLM APIs for hands-free voice booking, doctor dictation, and predictive models for forecasting daily footfall.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429101"/>
            <a:ext cx="10534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222222"/>
                </a:solidFill>
                <a:latin typeface="Plus Jakarta Sans"/>
              </a:rPr>
              <a:t>Hardware &amp; Official Messaging:</a:t>
            </a:r>
            <a:r>
              <a:rPr b="0" sz="1125" i="0" u="none">
                <a:solidFill>
                  <a:srgbClr val="222222"/>
                </a:solidFill>
                <a:latin typeface="Plus Jakarta Sans"/>
              </a:rPr>
              <a:t> Direct API linkage with biometric attendance terminals (fingerprint/face recognition) and the official WhatsApp Business Cloud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905351"/>
            <a:ext cx="10534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22222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222222"/>
                </a:solidFill>
                <a:latin typeface="Plus Jakarta Sans"/>
              </a:rPr>
              <a:t>Clinical Imaging &amp; Telehealth:</a:t>
            </a:r>
            <a:r>
              <a:rPr b="0" sz="1125" i="0" u="none">
                <a:solidFill>
                  <a:srgbClr val="222222"/>
                </a:solidFill>
                <a:latin typeface="Plus Jakarta Sans"/>
              </a:rPr>
              <a:t> DICOM ophthalmic diagnostic viewer, 3D dental scan rendering, secure patient portal, and multi-branch automated disaster recovery.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4425" y="447675"/>
            <a:ext cx="2988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06 | Future Scope &amp; System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296150" y="1976437"/>
            <a:ext cx="4286250" cy="3286125"/>
          </a:xfrm>
          <a:prstGeom prst="roundRect">
            <a:avLst>
              <a:gd name="adj" fmla="val 5797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747837"/>
            <a:ext cx="609600" cy="38100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957387"/>
            <a:ext cx="6191250" cy="762000"/>
          </a:xfrm>
          <a:prstGeom prst="roundRect">
            <a:avLst>
              <a:gd name="adj" fmla="val 15000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2852737"/>
            <a:ext cx="6191250" cy="762000"/>
          </a:xfrm>
          <a:prstGeom prst="roundRect">
            <a:avLst>
              <a:gd name="adj" fmla="val 15000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748087"/>
            <a:ext cx="6191250" cy="762000"/>
          </a:xfrm>
          <a:prstGeom prst="roundRect">
            <a:avLst>
              <a:gd name="adj" fmla="val 15000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4643437"/>
            <a:ext cx="6191250" cy="762000"/>
          </a:xfrm>
          <a:prstGeom prst="roundRect">
            <a:avLst>
              <a:gd name="adj" fmla="val 15000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62850" y="2652712"/>
            <a:ext cx="1790700" cy="1104900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86900" y="2652712"/>
            <a:ext cx="1790700" cy="1104900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62850" y="3890962"/>
            <a:ext cx="1790700" cy="1104900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86900" y="3890962"/>
            <a:ext cx="1790700" cy="1104900"/>
          </a:xfrm>
          <a:prstGeom prst="roundRect">
            <a:avLst>
              <a:gd name="adj" fmla="val 120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9650" y="447675"/>
            <a:ext cx="3119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07 | Conclusion &amp; Operational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614987"/>
            <a:ext cx="6286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1" u="none">
                <a:solidFill>
                  <a:srgbClr val="8B1E65"/>
                </a:solidFill>
                <a:latin typeface="Plus Jakarta Sans"/>
              </a:rPr>
              <a:t> "MKES brings clinic operations, automation, and intelligent decision support together in one integrated Android application."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850" y="2243137"/>
            <a:ext cx="4629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A4B00"/>
                </a:solidFill>
                <a:latin typeface="Plus Jakarta Sans"/>
              </a:rPr>
              <a:t>Verified System Deliverables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204912"/>
            <a:ext cx="812601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F1F1F"/>
                </a:solidFill>
                <a:latin typeface="Plus Jakarta Sans"/>
              </a:rPr>
              <a:t>Conclusion: Strategic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2109787"/>
            <a:ext cx="76259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Dual-Specialty Unification: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2366962"/>
            <a:ext cx="726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Unified eye and dental workflows eliminating operational silos.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3005137"/>
            <a:ext cx="76259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Operational Coordination: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3262312"/>
            <a:ext cx="726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Streamlined queues, staff attendance, leave deductions, and lab orders.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3900487"/>
            <a:ext cx="76259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Grounded Clinical Intelligence: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4157662"/>
            <a:ext cx="726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Real-time Copilot alerts on stockouts, expired batches, and overdue tasks.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4795837"/>
            <a:ext cx="76259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4B00"/>
                </a:solidFill>
                <a:latin typeface="Plus Jakarta Sans"/>
              </a:rPr>
              <a:t>Production-Grade Engineering: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5053012"/>
            <a:ext cx="726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2222"/>
                </a:solidFill>
                <a:latin typeface="Plus Jakarta Sans"/>
              </a:rPr>
              <a:t>Engineered on Flutter 3.3, Riverpod reactive state, and Supabase RLS.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3325" y="2824162"/>
            <a:ext cx="1809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9A4B00"/>
                </a:solidFill>
                <a:latin typeface="Plus Jakarta Sans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3325" y="3243262"/>
            <a:ext cx="1809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3333"/>
                </a:solidFill>
                <a:latin typeface="Plus Jakarta Sans"/>
              </a:rPr>
              <a:t>Modular Domain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7375" y="2824162"/>
            <a:ext cx="1809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8B1E65"/>
                </a:solidFill>
                <a:latin typeface="Plus Jakarta Sans"/>
              </a:rPr>
              <a:t>15+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7375" y="3243262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3333"/>
                </a:solidFill>
                <a:latin typeface="Plus Jakarta Sans"/>
              </a:rPr>
              <a:t>Normalized RLS 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3325" y="4062412"/>
            <a:ext cx="1809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8B1E65"/>
                </a:solidFill>
                <a:latin typeface="Plus Jakarta San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3325" y="4481512"/>
            <a:ext cx="1809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3333"/>
                </a:solidFill>
                <a:latin typeface="Plus Jakarta Sans"/>
              </a:rPr>
              <a:t>Clinical Specialties Unified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7375" y="4062412"/>
            <a:ext cx="1809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9A4B00"/>
                </a:solidFill>
                <a:latin typeface="Plus Jakarta Sans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7375" y="4481512"/>
            <a:ext cx="1809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3333"/>
                </a:solidFill>
                <a:latin typeface="Plus Jakarta Sans"/>
              </a:rPr>
              <a:t>Automated Cloud XLSX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1452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76525"/>
            <a:ext cx="10972800" cy="447675"/>
          </a:xfrm>
          <a:prstGeom prst="roundRect">
            <a:avLst>
              <a:gd name="adj" fmla="val 2553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57550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19550"/>
            <a:ext cx="10972800" cy="447675"/>
          </a:xfrm>
          <a:prstGeom prst="roundRect">
            <a:avLst>
              <a:gd name="adj" fmla="val 2553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6005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53625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53800" y="4810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53800" y="557212"/>
            <a:ext cx="228600" cy="28575"/>
          </a:xfrm>
          <a:prstGeom prst="rect">
            <a:avLst/>
          </a:prstGeom>
          <a:solidFill>
            <a:srgbClr val="9A4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375"/>
            <a:ext cx="400050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7620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F1F1F"/>
                </a:solidFill>
                <a:latin typeface="Plus Jakarta Sans"/>
              </a:rPr>
              <a:t>References (IEEE Format)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2872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Verified Academic &amp; Technical 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33387"/>
            <a:ext cx="12668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4B00"/>
                </a:solidFill>
                <a:latin typeface="Plus Jakarta Sans"/>
              </a:rPr>
              <a:t>MKES CARE+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0" y="447675"/>
            <a:ext cx="2357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74335"/>
                </a:solidFill>
                <a:latin typeface="Plus Jakarta Sans"/>
              </a:rPr>
              <a:t>08 | References (IEEE Format)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2047875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F1F1F"/>
                </a:solidFill>
                <a:latin typeface="Plus Jakarta Sans"/>
              </a:rPr>
              <a:t>[1] Google LLC, "Flutter: Build apps for any screen from a single codebase," Flutter Official Documentation, 2024. [Online]. Available: https://docs.flutter.dev. [Accessed: Oct. 2026].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809875"/>
            <a:ext cx="11391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F1F1F"/>
                </a:solidFill>
                <a:latin typeface="Plus Jakarta Sans"/>
              </a:rPr>
              <a:t>[2] Dart Team, "Dart Programming Language Specification and Core Libraries," Dart.dev, 2024. [Online]. Available: https://dart.dev.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390900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F1F1F"/>
                </a:solidFill>
                <a:latin typeface="Plus Jakarta Sans"/>
              </a:rPr>
              <a:t>[3] Supabase Inc., "Supabase Architecture, PostgreSQL and Row Level Security Guide," Supabase Documentation, 2024. [Online]. Available: https://supabase.com/docs.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4152900"/>
            <a:ext cx="11391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F1F1F"/>
                </a:solidFill>
                <a:latin typeface="Plus Jakarta Sans"/>
              </a:rPr>
              <a:t>[4] R. Rouhi et al., "Cloud-Based Electronic Health Record Systems: Architecture and Security Requirements," IEEE Access, vol. 9, pp. 12045–12058, 2021.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4733925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F1F1F"/>
                </a:solidFill>
                <a:latin typeface="Plus Jakarta Sans"/>
              </a:rPr>
              <a:t>[5] E. H. Shortliffe and J. J. Cimino, Eds., Biomedical Informatics: Computer Applications in Health Care and Biomedicine, 5th ed. Cham, Switzerland: Springer, 2021.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5495925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F1F1F"/>
                </a:solidFill>
                <a:latin typeface="Plus Jakarta Sans"/>
              </a:rPr>
              <a:t>[6] Meta Platforms, "WhatsApp Click to Chat API (wa.me) Integration Guide," Meta for Developers, 2024. [Online]. Available: https://developers.facebook.com.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14612" y="3933825"/>
            <a:ext cx="6962775" cy="1581150"/>
          </a:xfrm>
          <a:prstGeom prst="roundRect">
            <a:avLst>
              <a:gd name="adj" fmla="val 9638"/>
            </a:avLst>
          </a:prstGeom>
          <a:solidFill>
            <a:srgbClr val="292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343025"/>
            <a:ext cx="9144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050" y="1438275"/>
            <a:ext cx="723900" cy="723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54140" y="2447925"/>
            <a:ext cx="3083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D97706"/>
                </a:solidFill>
                <a:latin typeface="Plus Jakarta Sans"/>
              </a:rPr>
              <a:t>09 | Academic Viva Defense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5562" y="2705100"/>
            <a:ext cx="7000875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AFAF9"/>
                </a:solidFill>
                <a:latin typeface="Plus Jakarta Sans"/>
              </a:rPr>
              <a:t>Thank You &amp; Viva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9265" y="3486150"/>
            <a:ext cx="4893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59E0B"/>
                </a:solidFill>
                <a:latin typeface="Plus Jakarta Sans"/>
              </a:rPr>
              <a:t>Sponsored by Mohankheda Eye and Smile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2890" y="4162425"/>
            <a:ext cx="7846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AFAF9"/>
                </a:solidFill>
                <a:latin typeface="Plus Jakarta Sans"/>
              </a:rPr>
              <a:t>Presented by: TIRTHA SHAH (T008) • RIYA PATEL (T019) • TATVA JAIN (T058)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2890" y="4476750"/>
            <a:ext cx="7846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59E0B"/>
                </a:solidFill>
                <a:latin typeface="Plus Jakarta Sans"/>
              </a:rPr>
              <a:t>Guided by: MRS KRISHNA BHATT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2890" y="4829175"/>
            <a:ext cx="7846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D6D3D1"/>
                </a:solidFill>
                <a:latin typeface="Plus Jakarta Sans"/>
              </a:rPr>
              <a:t>Department of Computer Science &amp; Engineering / IT • Academic Year 2025–2026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2890" y="5105400"/>
            <a:ext cx="7846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A8A29E"/>
                </a:solidFill>
                <a:latin typeface="Plus Jakarta Sans"/>
              </a:rPr>
              <a:t>Platform: Flutter SDK 3.3+ (Android Native) • Backend: Supabase PostgreSQL 15+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0030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8127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9090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38225"/>
            <a:ext cx="9465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https://www.slidekit.com/wp-content/uploads/2025/07/Editable-Healthcare-KPI-PowerPoint-Dashboard-Slide-Template.jpg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38250"/>
            <a:ext cx="2393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www.slidekit.com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809750"/>
            <a:ext cx="7798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https://figures.semanticscholar.org/610a9387b57a09356a2b937567539d1059d45b64/3-Figure1-1.png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009775"/>
            <a:ext cx="3107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www.semanticscholar.org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54317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https://media.istockphoto.com/id/1066662272/vector/web-page-design-templates-collection-of-gynecology-ophthalmology-dental-care-online-medical.jpg?s=1024x1024&amp;w=is&amp;k=20&amp;c=SToT7rXtDn6BTyq0u6rsLET59kWxDCu88CStZWbnYqk=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895600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429000"/>
            <a:ext cx="7465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https://newdocer.cache.wpscdn.com/photo/20211105/0f187704809440b786a928b8f4afeef4.jpg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629025"/>
            <a:ext cx="2500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template.wps.com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