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29.svg" ContentType="image/svg+xml"/>
  <Override PartName="/ppt/media/image8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8056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5506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47775" y="2564609"/>
            <a:ext cx="15773400" cy="427910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47775" y="6884197"/>
            <a:ext cx="15773400" cy="225028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049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885950" y="2738438"/>
            <a:ext cx="11715750" cy="65270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30300" y="2738438"/>
            <a:ext cx="11715750" cy="65270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0537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2" y="547690"/>
            <a:ext cx="15773400" cy="198834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9684" y="2521745"/>
            <a:ext cx="7736681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9684" y="3757613"/>
            <a:ext cx="7736681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41821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362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759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37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9683" y="685800"/>
            <a:ext cx="5898356" cy="2400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74782" y="1481140"/>
            <a:ext cx="9258300" cy="73104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59683" y="3086100"/>
            <a:ext cx="5898356" cy="571738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89854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4265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9631026" y="547688"/>
            <a:ext cx="5915025" cy="871775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885951" y="547688"/>
            <a:ext cx="17516475" cy="871775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79329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7300" y="547690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73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61ED28-1ED8-4B1D-9725-F93AF64EA244}" type="datetimeFigureOut">
              <a:rPr lang="en-IN" smtClean="0"/>
              <a:t>18-10-2026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57900" y="9534527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915900" y="9534527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7DD35D-9454-486E-8CA4-C068E06158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8309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8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svg"/><Relationship Id="rId4" Type="http://schemas.openxmlformats.org/officeDocument/2006/relationships/image" Target="../media/image2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Relationship Id="rId5" Type="http://schemas.openxmlformats.org/officeDocument/2006/relationships/image" Target="../media/image8.png"/><Relationship Id="rId6" Type="http://schemas.openxmlformats.org/officeDocument/2006/relationships/image" Target="../media/image23.svg"/><Relationship Id="rId7" Type="http://schemas.openxmlformats.org/officeDocument/2006/relationships/image" Target="../media/image9.png"/><Relationship Id="rId8" Type="http://schemas.openxmlformats.org/officeDocument/2006/relationships/image" Target="../media/image25.svg"/><Relationship Id="rId9" Type="http://schemas.openxmlformats.org/officeDocument/2006/relationships/image" Target="../media/image10.png"/><Relationship Id="rId10" Type="http://schemas.openxmlformats.org/officeDocument/2006/relationships/image" Target="../media/image27.svg"/><Relationship Id="rId11" Type="http://schemas.openxmlformats.org/officeDocument/2006/relationships/image" Target="../media/image11.png"/><Relationship Id="rId12" Type="http://schemas.openxmlformats.org/officeDocument/2006/relationships/image" Target="../media/image29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0.svg"/><Relationship Id="rId4" Type="http://schemas.openxmlformats.org/officeDocument/2006/relationships/image" Target="../media/image2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Relationship Id="rId5" Type="http://schemas.openxmlformats.org/officeDocument/2006/relationships/image" Target="../media/image12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4.png"/><Relationship Id="rId10" Type="http://schemas.openxmlformats.org/officeDocument/2006/relationships/image" Target="../media/image16.svg"/><Relationship Id="rId11" Type="http://schemas.openxmlformats.org/officeDocument/2006/relationships/image" Target="../media/image15.png"/><Relationship Id="rId12" Type="http://schemas.openxmlformats.org/officeDocument/2006/relationships/image" Target="../media/image18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Relationship Id="rId5" Type="http://schemas.openxmlformats.org/officeDocument/2006/relationships/image" Target="../media/image12.png"/><Relationship Id="rId6" Type="http://schemas.openxmlformats.org/officeDocument/2006/relationships/image" Target="../media/image12.svg"/><Relationship Id="rId7" Type="http://schemas.openxmlformats.org/officeDocument/2006/relationships/image" Target="../media/image13.png"/><Relationship Id="rId8" Type="http://schemas.openxmlformats.org/officeDocument/2006/relationships/image" Target="../media/image14.svg"/><Relationship Id="rId9" Type="http://schemas.openxmlformats.org/officeDocument/2006/relationships/image" Target="../media/image14.png"/><Relationship Id="rId10" Type="http://schemas.openxmlformats.org/officeDocument/2006/relationships/image" Target="../media/image16.svg"/><Relationship Id="rId11" Type="http://schemas.openxmlformats.org/officeDocument/2006/relationships/image" Target="../media/image15.png"/><Relationship Id="rId12" Type="http://schemas.openxmlformats.org/officeDocument/2006/relationships/image" Target="../media/image18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Relationship Id="rId5" Type="http://schemas.openxmlformats.org/officeDocument/2006/relationships/image" Target="../media/image8.png"/><Relationship Id="rId6" Type="http://schemas.openxmlformats.org/officeDocument/2006/relationships/image" Target="../media/image23.svg"/><Relationship Id="rId7" Type="http://schemas.openxmlformats.org/officeDocument/2006/relationships/image" Target="../media/image9.png"/><Relationship Id="rId8" Type="http://schemas.openxmlformats.org/officeDocument/2006/relationships/image" Target="../media/image25.svg"/><Relationship Id="rId9" Type="http://schemas.openxmlformats.org/officeDocument/2006/relationships/image" Target="../media/image10.png"/><Relationship Id="rId10" Type="http://schemas.openxmlformats.org/officeDocument/2006/relationships/image" Target="../media/image27.svg"/><Relationship Id="rId11" Type="http://schemas.openxmlformats.org/officeDocument/2006/relationships/image" Target="../media/image11.png"/><Relationship Id="rId12" Type="http://schemas.openxmlformats.org/officeDocument/2006/relationships/image" Target="../media/image29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704283" y="1694557"/>
            <a:ext cx="5876304" cy="11627276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Freeform 22"/>
          <p:cNvSpPr/>
          <p:nvPr/>
        </p:nvSpPr>
        <p:spPr>
          <a:xfrm>
            <a:off x="7419098" y="4406610"/>
            <a:ext cx="4851690" cy="4851690"/>
          </a:xfrm>
          <a:custGeom>
            <a:avLst/>
            <a:gdLst/>
            <a:ahLst/>
            <a:cxnLst/>
            <a:rect l="l" t="t" r="r" b="b"/>
            <a:pathLst>
              <a:path w="4851690" h="4851690">
                <a:moveTo>
                  <a:pt x="0" y="0"/>
                </a:moveTo>
                <a:lnTo>
                  <a:pt x="4851690" y="0"/>
                </a:lnTo>
                <a:lnTo>
                  <a:pt x="4851690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23" name="Freeform 23"/>
          <p:cNvSpPr/>
          <p:nvPr/>
        </p:nvSpPr>
        <p:spPr>
          <a:xfrm>
            <a:off x="9995932" y="4406610"/>
            <a:ext cx="4851690" cy="4851690"/>
          </a:xfrm>
          <a:custGeom>
            <a:avLst/>
            <a:gdLst/>
            <a:ahLst/>
            <a:cxnLst/>
            <a:rect l="l" t="t" r="r" b="b"/>
            <a:pathLst>
              <a:path w="4851690" h="4851690">
                <a:moveTo>
                  <a:pt x="0" y="0"/>
                </a:moveTo>
                <a:lnTo>
                  <a:pt x="4851691" y="0"/>
                </a:lnTo>
                <a:lnTo>
                  <a:pt x="4851691" y="4851690"/>
                </a:lnTo>
                <a:lnTo>
                  <a:pt x="0" y="485169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1999"/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24" name="Group 24"/>
          <p:cNvGrpSpPr/>
          <p:nvPr/>
        </p:nvGrpSpPr>
        <p:grpSpPr>
          <a:xfrm>
            <a:off x="8394727" y="5309790"/>
            <a:ext cx="5139841" cy="2819922"/>
            <a:chOff x="0" y="0"/>
            <a:chExt cx="1052050" cy="577197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52050" cy="577197"/>
            </a:xfrm>
            <a:custGeom>
              <a:avLst/>
              <a:gdLst/>
              <a:ahLst/>
              <a:cxnLst/>
              <a:rect l="l" t="t" r="r" b="b"/>
              <a:pathLst>
                <a:path w="1052050" h="577197">
                  <a:moveTo>
                    <a:pt x="75313" y="0"/>
                  </a:moveTo>
                  <a:lnTo>
                    <a:pt x="976737" y="0"/>
                  </a:lnTo>
                  <a:cubicBezTo>
                    <a:pt x="1018332" y="0"/>
                    <a:pt x="1052050" y="33719"/>
                    <a:pt x="1052050" y="75313"/>
                  </a:cubicBezTo>
                  <a:lnTo>
                    <a:pt x="1052050" y="501884"/>
                  </a:lnTo>
                  <a:cubicBezTo>
                    <a:pt x="1052050" y="543478"/>
                    <a:pt x="1018332" y="577197"/>
                    <a:pt x="976737" y="577197"/>
                  </a:cubicBezTo>
                  <a:lnTo>
                    <a:pt x="75313" y="577197"/>
                  </a:lnTo>
                  <a:cubicBezTo>
                    <a:pt x="33719" y="577197"/>
                    <a:pt x="0" y="543478"/>
                    <a:pt x="0" y="501884"/>
                  </a:cubicBezTo>
                  <a:lnTo>
                    <a:pt x="0" y="75313"/>
                  </a:lnTo>
                  <a:cubicBezTo>
                    <a:pt x="0" y="33719"/>
                    <a:pt x="33719" y="0"/>
                    <a:pt x="75313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1052050" cy="615297"/>
            </a:xfrm>
            <a:prstGeom prst="rect">
              <a:avLst/>
            </a:prstGeom>
          </p:spPr>
          <p:txBody>
            <a:bodyPr lIns="47086" tIns="47086" rIns="47086" bIns="47086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27" name="Pictur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0955" y="5632808"/>
            <a:ext cx="1810448" cy="1810448"/>
          </a:xfrm>
          <a:prstGeom prst="rect">
            <a:avLst/>
          </a:prstGeom>
        </p:spPr>
      </p:pic>
      <p:pic>
        <p:nvPicPr>
          <p:cNvPr id="28" name="Picture 2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97891" y="5632808"/>
            <a:ext cx="1810448" cy="1810448"/>
          </a:xfrm>
          <a:prstGeom prst="rect">
            <a:avLst/>
          </a:prstGeom>
        </p:spPr>
      </p:pic>
      <p:grpSp>
        <p:nvGrpSpPr>
          <p:cNvPr id="29" name="Group 29"/>
          <p:cNvGrpSpPr/>
          <p:nvPr/>
        </p:nvGrpSpPr>
        <p:grpSpPr>
          <a:xfrm>
            <a:off x="1927286" y="7219080"/>
            <a:ext cx="2003612" cy="775869"/>
            <a:chOff x="0" y="0"/>
            <a:chExt cx="2098984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2098984" cy="812800"/>
            </a:xfrm>
            <a:custGeom>
              <a:avLst/>
              <a:gdLst/>
              <a:ahLst/>
              <a:cxnLst/>
              <a:rect l="l" t="t" r="r" b="b"/>
              <a:pathLst>
                <a:path w="2098984" h="812800">
                  <a:moveTo>
                    <a:pt x="386398" y="0"/>
                  </a:moveTo>
                  <a:lnTo>
                    <a:pt x="1712586" y="0"/>
                  </a:lnTo>
                  <a:cubicBezTo>
                    <a:pt x="1925987" y="0"/>
                    <a:pt x="2098984" y="172996"/>
                    <a:pt x="2098984" y="386398"/>
                  </a:cubicBezTo>
                  <a:lnTo>
                    <a:pt x="2098984" y="426402"/>
                  </a:lnTo>
                  <a:cubicBezTo>
                    <a:pt x="2098984" y="639804"/>
                    <a:pt x="1925987" y="812800"/>
                    <a:pt x="1712586" y="812800"/>
                  </a:cubicBezTo>
                  <a:lnTo>
                    <a:pt x="386398" y="812800"/>
                  </a:lnTo>
                  <a:cubicBezTo>
                    <a:pt x="172996" y="812800"/>
                    <a:pt x="0" y="639804"/>
                    <a:pt x="0" y="426402"/>
                  </a:cubicBezTo>
                  <a:lnTo>
                    <a:pt x="0" y="386398"/>
                  </a:lnTo>
                  <a:cubicBezTo>
                    <a:pt x="0" y="172996"/>
                    <a:pt x="172996" y="0"/>
                    <a:pt x="386398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0" y="-38100"/>
              <a:ext cx="2098984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4300739" y="7358261"/>
            <a:ext cx="497506" cy="497506"/>
          </a:xfrm>
          <a:custGeom>
            <a:avLst/>
            <a:gdLst/>
            <a:ahLst/>
            <a:cxnLst/>
            <a:rect l="l" t="t" r="r" b="b"/>
            <a:pathLst>
              <a:path w="497506" h="497506">
                <a:moveTo>
                  <a:pt x="0" y="0"/>
                </a:moveTo>
                <a:lnTo>
                  <a:pt x="497506" y="0"/>
                </a:lnTo>
                <a:lnTo>
                  <a:pt x="497506" y="497506"/>
                </a:lnTo>
                <a:lnTo>
                  <a:pt x="0" y="4975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33" name="TextBox 33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35" name="TextBox 35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36" name="TextBox 36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37" name="TextBox 37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Academic Project Viva 2025–26 | Department of CSE / IT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927286" y="1920240"/>
            <a:ext cx="6583680" cy="1005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4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27286" y="3063240"/>
            <a:ext cx="6583680" cy="9144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sz="2800" b="1">
                <a:solidFill>
                  <a:srgbClr val="1F2020"/>
                </a:solidFill>
                <a:latin typeface="Poppins"/>
              </a:rPr>
              <a:t>Smart Eye &amp; Dental Clinic System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9056424" y="7360168"/>
            <a:ext cx="1739510" cy="295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2" b="1">
                <a:solidFill>
                  <a:srgbClr val="9848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01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133360" y="7360168"/>
            <a:ext cx="1739510" cy="2956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6"/>
              </a:lnSpc>
              <a:spcBef>
                <a:spcPct val="0"/>
              </a:spcBef>
            </a:pPr>
            <a:r>
              <a:rPr lang="en-US" sz="1662" b="1">
                <a:solidFill>
                  <a:srgbClr val="984800"/>
                </a:solidFill>
                <a:latin typeface="Poppins Bold"/>
                <a:ea typeface="Poppins Bold"/>
                <a:cs typeface="Poppins Bold"/>
                <a:sym typeface="Poppins Bold"/>
              </a:rPr>
              <a:t>Data 02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927286" y="4114800"/>
            <a:ext cx="6583680" cy="10058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/>
            <a:r>
              <a:rPr sz="1800" b="0">
                <a:solidFill>
                  <a:srgbClr val="1F2020"/>
                </a:solidFill>
                <a:latin typeface="Open Sans"/>
              </a:rPr>
              <a:t>An Integrated Android Application for Multi-Specialty Clinic Operations, Workflow Automation and Grounded AI Decision Support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927286" y="7468868"/>
            <a:ext cx="2003612" cy="2477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Explore Now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951727" y="7468168"/>
            <a:ext cx="1741014" cy="2484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57"/>
              </a:lnSpc>
              <a:spcBef>
                <a:spcPct val="0"/>
              </a:spcBef>
            </a:pPr>
            <a:r>
              <a:rPr lang="en-US" sz="1469" b="1">
                <a:solidFill>
                  <a:srgbClr val="1F202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Play Video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920240" y="5303520"/>
            <a:ext cx="6858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020"/>
                </a:solidFill>
                <a:latin typeface="Poppins"/>
              </a:rPr>
              <a:t>Presented by: [Student Name(s)]</a:t>
            </a:r>
          </a:p>
          <a:p>
            <a:pPr algn="l"/>
            <a:r>
              <a:rPr sz="1600" b="1">
                <a:solidFill>
                  <a:srgbClr val="984800"/>
                </a:solidFill>
                <a:latin typeface="Poppins"/>
              </a:rPr>
              <a:t>Guided by: [Guide Name]</a:t>
            </a:r>
          </a:p>
          <a:p>
            <a:pPr algn="l"/>
            <a:r>
              <a:rPr sz="1400" b="0">
                <a:solidFill>
                  <a:srgbClr val="705548"/>
                </a:solidFill>
                <a:latin typeface="Open Sans"/>
              </a:rPr>
              <a:t>Department of Computer Science &amp; Engineering / IT</a:t>
            </a:r>
          </a:p>
          <a:p>
            <a:pPr algn="l"/>
            <a:r>
              <a:rPr sz="1400" b="0">
                <a:solidFill>
                  <a:srgbClr val="705548"/>
                </a:solidFill>
                <a:latin typeface="Open Sans"/>
              </a:rPr>
              <a:t>Institution: [College Name]  •  Academic Year: [Academic Year]</a:t>
            </a:r>
          </a:p>
          <a:p>
            <a:pPr algn="l"/>
            <a:r>
              <a:rPr sz="1400" b="0">
                <a:solidFill>
                  <a:srgbClr val="705548"/>
                </a:solidFill>
                <a:latin typeface="Open Sans"/>
              </a:rPr>
              <a:t>Platform: Flutter Android Native Client  •  Backend: Supabase PostgreSQL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0643" y="5532895"/>
            <a:ext cx="9163193" cy="916319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3491847" y="1596184"/>
            <a:ext cx="4180995" cy="8272818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760418" y="4100085"/>
            <a:ext cx="2915550" cy="5768917"/>
            <a:chOff x="0" y="0"/>
            <a:chExt cx="2620010" cy="5184140"/>
          </a:xfrm>
        </p:grpSpPr>
        <p:sp>
          <p:nvSpPr>
            <p:cNvPr id="26" name="Freeform 2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528297" y="5339641"/>
            <a:ext cx="2289092" cy="4529361"/>
            <a:chOff x="0" y="0"/>
            <a:chExt cx="2620010" cy="5184140"/>
          </a:xfrm>
        </p:grpSpPr>
        <p:sp>
          <p:nvSpPr>
            <p:cNvPr id="36" name="Freeform 3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1258044" y="2971800"/>
            <a:ext cx="1042538" cy="47625"/>
            <a:chOff x="0" y="0"/>
            <a:chExt cx="274578" cy="1254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00 | Presentation Overview &amp; Agenda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58044" y="2103120"/>
            <a:ext cx="68580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600" b="1">
                <a:solidFill>
                  <a:srgbClr val="1F2020"/>
                </a:solidFill>
                <a:latin typeface="Poppins"/>
              </a:rPr>
              <a:t>Presentation Outline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58044" y="7120786"/>
            <a:ext cx="5263403" cy="82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5" name="TextBox 55"/>
          <p:cNvSpPr txBox="1"/>
          <p:nvPr/>
        </p:nvSpPr>
        <p:spPr>
          <a:xfrm>
            <a:off x="11258044" y="6673111"/>
            <a:ext cx="2378606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6" name="TextBox 56"/>
          <p:cNvSpPr txBox="1"/>
          <p:nvPr/>
        </p:nvSpPr>
        <p:spPr>
          <a:xfrm>
            <a:off x="11258044" y="4824113"/>
            <a:ext cx="5263403" cy="1244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607040" y="3291840"/>
            <a:ext cx="68580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1. Existing System, Problem Statement &amp; Motivation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Operational fragmentation in multi-specialty clinics and project rationale.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2. Proposed System &amp; Functional Pillars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Multi-specialty patient workflows, staff governance, dual supply chain, and automation.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3. Multi-Tier System Architecture &amp; Data Flow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Decoupled presentation layer, reactive Riverpod state, and Supabase cloud infrastructure.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4. Production Technology Stack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Verified production stack: Flutter 3.3+, Dart, PostgreSQL with RLS, and WhatsApp deep-links.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5. Implementation Snapshots &amp; Core Modules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High-fidelity views of authentication, admin dashboard, clinical queues, staff, and inventory.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6. Future Scope &amp; System Roadmap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Conversational LLM Copilot, biometric attendance hardware, and DICOM diagnostic imaging.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7. Conclusion &amp; Strategic Value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Operational synthesis, elimination of clinical silos, and measurable administrative impact.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8. References (IEEE Format) &amp; Viva Defense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Peer-reviewed biomedical informatics literature, official documentation, and oral defense.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1520229" y="4470746"/>
            <a:ext cx="8252837" cy="825283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543171" y="1689836"/>
            <a:ext cx="2961571" cy="5859977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01 | Existing System &amp; Limitations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3703249" y="2737187"/>
            <a:ext cx="2961571" cy="5859977"/>
            <a:chOff x="0" y="0"/>
            <a:chExt cx="2620010" cy="5184140"/>
          </a:xfrm>
        </p:grpSpPr>
        <p:sp>
          <p:nvSpPr>
            <p:cNvPr id="28" name="Freeform 2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927240" y="3710399"/>
            <a:ext cx="1042538" cy="47625"/>
            <a:chOff x="0" y="0"/>
            <a:chExt cx="274578" cy="125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927240" y="2057698"/>
            <a:ext cx="8229600" cy="140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Existing System: Limitations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927240" y="4748749"/>
            <a:ext cx="677751" cy="677751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874528" y="4729699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01. Disconnected Records &amp; Registries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Patient demographics, treatment sheets, and visit histories are maintained in separate paper logs or standalone spreadsheets, leading to duplicate records and lost longitudinal histories.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18060" y="492474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953135" y="4748749"/>
            <a:ext cx="677751" cy="677751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900423" y="4729699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02. Manual Queue Coordination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Coordination between walk-in queues and pre-booked appointments relies on manual paper slips, creating friction at reception desks and causing unpredictable patient waiting times.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43955" y="492474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927240" y="6965275"/>
            <a:ext cx="677751" cy="677751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2874528" y="6946225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03. Dual-Specialty Supply Disconnect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Optical goods (frames/lenses) and dental consumables operate on separate registers without unified low-stock thresholds or batch-expiry tracking, causing stockouts and expired inventory waste.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18060" y="71412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5953135" y="6965275"/>
            <a:ext cx="677751" cy="677751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900423" y="6946225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04. Fragmented Admin Visibility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Clinic managers lack consolidated daily visibility across patient volume, staff attendance salary deductions, vendor purchase orders, and daily procedure revenue collections.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043955" y="71412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2651" y="0"/>
            <a:ext cx="8260763" cy="10287000"/>
            <a:chOff x="0" y="0"/>
            <a:chExt cx="2175674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5674" cy="2709333"/>
            </a:xfrm>
            <a:custGeom>
              <a:avLst/>
              <a:gdLst/>
              <a:ahLst/>
              <a:cxnLst/>
              <a:rect l="l" t="t" r="r" b="b"/>
              <a:pathLst>
                <a:path w="2175674" h="2709333">
                  <a:moveTo>
                    <a:pt x="0" y="0"/>
                  </a:moveTo>
                  <a:lnTo>
                    <a:pt x="2175674" y="0"/>
                  </a:lnTo>
                  <a:lnTo>
                    <a:pt x="21756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7567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12" name="Group 1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-453973" y="1844576"/>
            <a:ext cx="3334483" cy="6597848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3053449" y="1844576"/>
            <a:ext cx="3334483" cy="6597848"/>
            <a:chOff x="0" y="0"/>
            <a:chExt cx="2620010" cy="5184140"/>
          </a:xfrm>
        </p:grpSpPr>
        <p:sp>
          <p:nvSpPr>
            <p:cNvPr id="26" name="Freeform 2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560870" y="1844576"/>
            <a:ext cx="3334483" cy="6597848"/>
            <a:chOff x="0" y="0"/>
            <a:chExt cx="2620010" cy="5184140"/>
          </a:xfrm>
        </p:grpSpPr>
        <p:sp>
          <p:nvSpPr>
            <p:cNvPr id="36" name="Freeform 3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45" name="TextBox 45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oppins"/>
              </a:rPr>
              <a:t>MKES CARE+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47" name="TextBox 47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48" name="TextBox 48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49" name="TextBox 49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01 | Problem Statement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1551926" y="3984685"/>
            <a:ext cx="1042538" cy="47625"/>
            <a:chOff x="0" y="0"/>
            <a:chExt cx="274578" cy="1254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551926" y="2331983"/>
            <a:ext cx="6858000" cy="140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600" b="1">
                <a:solidFill>
                  <a:srgbClr val="1F2020"/>
                </a:solidFill>
                <a:latin typeface="Poppins"/>
              </a:rPr>
              <a:t>Problem Statement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1551926" y="4818459"/>
            <a:ext cx="677751" cy="677751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499214" y="4839423"/>
            <a:ext cx="5486400" cy="11887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Operational Silos in Multi-Specialty Care</a:t>
            </a:r>
          </a:p>
          <a:p>
            <a:pPr algn="l"/>
            <a:r>
              <a:rPr sz="1400" b="0">
                <a:solidFill>
                  <a:srgbClr val="1F2020"/>
                </a:solidFill>
                <a:latin typeface="Open Sans"/>
              </a:rPr>
              <a:t>Eye and dental clinics share administrative staff and physical facilities but operate as disconnected silos with incompatible record formats, leading to redundant entries, patient confusion, and lost clinical history.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42746" y="4994457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1551926" y="6028813"/>
            <a:ext cx="677751" cy="677751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2499214" y="6049776"/>
            <a:ext cx="5486400" cy="11887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Lack of Real-Time Queue &amp; Task Synchronization</a:t>
            </a:r>
          </a:p>
          <a:p>
            <a:pPr algn="l"/>
            <a:r>
              <a:rPr sz="1400" b="0">
                <a:solidFill>
                  <a:srgbClr val="1F2020"/>
                </a:solidFill>
                <a:latin typeface="Open Sans"/>
              </a:rPr>
              <a:t>The absence of real-time multi-terminal data synchronization between reception desks, doctor consultation rooms, and billing stations leads to severe communication delays, bottlenecks, and uncoordinated queues.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642746" y="620481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1551926" y="7239166"/>
            <a:ext cx="677751" cy="677751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2499214" y="7260130"/>
            <a:ext cx="5486400" cy="11887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High Administrative Friction &amp; Compliance Burden</a:t>
            </a:r>
          </a:p>
          <a:p>
            <a:pPr algn="l"/>
            <a:r>
              <a:rPr sz="1400" b="0">
                <a:solidFill>
                  <a:srgbClr val="1F2020"/>
                </a:solidFill>
                <a:latin typeface="Open Sans"/>
              </a:rPr>
              <a:t>Manual attendance tracking, complex manual salary deduction calculations for leaves, and unautomated vendor follow-ups consume hours of staff time that should be dedicated to patient care.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642746" y="741516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22926" y="5797632"/>
            <a:ext cx="8887018" cy="888701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8713388" y="1860297"/>
            <a:ext cx="4627172" cy="9155655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01 | Project Motivation &amp; Strategic Objectives</a:t>
            </a:r>
          </a:p>
        </p:txBody>
      </p:sp>
      <p:grpSp>
        <p:nvGrpSpPr>
          <p:cNvPr id="30" name="Group 30"/>
          <p:cNvGrpSpPr>
            <a:grpSpLocks noChangeAspect="1"/>
          </p:cNvGrpSpPr>
          <p:nvPr/>
        </p:nvGrpSpPr>
        <p:grpSpPr>
          <a:xfrm rot="1427266">
            <a:off x="12617627" y="2278681"/>
            <a:ext cx="3556881" cy="7037901"/>
            <a:chOff x="0" y="0"/>
            <a:chExt cx="2620010" cy="5184140"/>
          </a:xfrm>
        </p:grpSpPr>
        <p:sp>
          <p:nvSpPr>
            <p:cNvPr id="31" name="Freeform 3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2005352" y="3702532"/>
            <a:ext cx="1042538" cy="47625"/>
            <a:chOff x="0" y="0"/>
            <a:chExt cx="274578" cy="1254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005352" y="2792780"/>
            <a:ext cx="5669280" cy="73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Project Motivation &amp; Strategic Goals</a:t>
            </a:r>
          </a:p>
        </p:txBody>
      </p:sp>
      <p:sp>
        <p:nvSpPr>
          <p:cNvPr id="44" name="Freeform 44"/>
          <p:cNvSpPr/>
          <p:nvPr/>
        </p:nvSpPr>
        <p:spPr>
          <a:xfrm>
            <a:off x="2005352" y="4666888"/>
            <a:ext cx="351730" cy="351730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2643200" y="4654394"/>
            <a:ext cx="4937760" cy="685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984800"/>
                </a:solidFill>
                <a:latin typeface="Poppins"/>
              </a:rPr>
              <a:t>Mobile-First Clinical Governance:</a:t>
            </a:r>
          </a:p>
          <a:p>
            <a:pPr algn="l"/>
            <a:r>
              <a:rPr sz="1300" b="0">
                <a:solidFill>
                  <a:srgbClr val="1F2020"/>
                </a:solidFill>
                <a:latin typeface="Open Sans"/>
              </a:rPr>
              <a:t>Unified Android tablet &amp; phone interface for doctors and desk staff.</a:t>
            </a:r>
          </a:p>
        </p:txBody>
      </p:sp>
      <p:sp>
        <p:nvSpPr>
          <p:cNvPr id="46" name="Freeform 46"/>
          <p:cNvSpPr/>
          <p:nvPr/>
        </p:nvSpPr>
        <p:spPr>
          <a:xfrm>
            <a:off x="2005352" y="5481902"/>
            <a:ext cx="351730" cy="351730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0"/>
                </a:lnTo>
                <a:lnTo>
                  <a:pt x="0" y="3517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2643200" y="5469408"/>
            <a:ext cx="4937760" cy="685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984800"/>
                </a:solidFill>
                <a:latin typeface="Poppins"/>
              </a:rPr>
              <a:t>Real-Time Cloud Synchronization:</a:t>
            </a:r>
          </a:p>
          <a:p>
            <a:pPr algn="l"/>
            <a:r>
              <a:rPr sz="1300" b="0">
                <a:solidFill>
                  <a:srgbClr val="1F2020"/>
                </a:solidFill>
                <a:latin typeface="Open Sans"/>
              </a:rPr>
              <a:t>Centralized PostgreSQL backend ensuring instant queue and record updates.</a:t>
            </a:r>
          </a:p>
        </p:txBody>
      </p:sp>
      <p:sp>
        <p:nvSpPr>
          <p:cNvPr id="48" name="Freeform 48"/>
          <p:cNvSpPr/>
          <p:nvPr/>
        </p:nvSpPr>
        <p:spPr>
          <a:xfrm>
            <a:off x="2005352" y="6293146"/>
            <a:ext cx="351730" cy="351730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0"/>
                </a:lnTo>
                <a:lnTo>
                  <a:pt x="0" y="351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9" name="TextBox 49"/>
          <p:cNvSpPr txBox="1"/>
          <p:nvPr/>
        </p:nvSpPr>
        <p:spPr>
          <a:xfrm>
            <a:off x="2643200" y="6287365"/>
            <a:ext cx="4937760" cy="685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984800"/>
                </a:solidFill>
                <a:latin typeface="Poppins"/>
              </a:rPr>
              <a:t>Automated Operational Workflows:</a:t>
            </a:r>
          </a:p>
          <a:p>
            <a:pPr algn="l"/>
            <a:r>
              <a:rPr sz="1300" b="0">
                <a:solidFill>
                  <a:srgbClr val="1F2020"/>
                </a:solidFill>
                <a:latin typeface="Open Sans"/>
              </a:rPr>
              <a:t>Deep-linked WhatsApp notices and scheduled multi-sheet Excel cloud backups.</a:t>
            </a:r>
          </a:p>
        </p:txBody>
      </p:sp>
      <p:sp>
        <p:nvSpPr>
          <p:cNvPr id="50" name="Freeform 50"/>
          <p:cNvSpPr/>
          <p:nvPr/>
        </p:nvSpPr>
        <p:spPr>
          <a:xfrm>
            <a:off x="2005352" y="7104389"/>
            <a:ext cx="351730" cy="351730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1" name="TextBox 51"/>
          <p:cNvSpPr txBox="1"/>
          <p:nvPr/>
        </p:nvSpPr>
        <p:spPr>
          <a:xfrm>
            <a:off x="2643200" y="7109681"/>
            <a:ext cx="4937760" cy="685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984800"/>
                </a:solidFill>
                <a:latin typeface="Poppins"/>
              </a:rPr>
              <a:t>Rule-Grounded Decision Support:</a:t>
            </a:r>
          </a:p>
          <a:p>
            <a:pPr algn="l"/>
            <a:r>
              <a:rPr sz="1300" b="0">
                <a:solidFill>
                  <a:srgbClr val="1F2020"/>
                </a:solidFill>
                <a:latin typeface="Open Sans"/>
              </a:rPr>
              <a:t>AI Copilot surfacing low inventory, expiring batches, and overdue tasks.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02536" y="8001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984800"/>
                </a:solidFill>
                <a:latin typeface="Poppins"/>
              </a:rPr>
              <a:t>"MKES transforms fragmented eye and dental practices into a unified, data-driven healthcare operation."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1520229" y="4470746"/>
            <a:ext cx="8252837" cy="825283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543171" y="1689836"/>
            <a:ext cx="2961571" cy="5859977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02 | Proposed System &amp; Functional Pillars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3703249" y="2737187"/>
            <a:ext cx="2961571" cy="5859977"/>
            <a:chOff x="0" y="0"/>
            <a:chExt cx="2620010" cy="5184140"/>
          </a:xfrm>
        </p:grpSpPr>
        <p:sp>
          <p:nvSpPr>
            <p:cNvPr id="28" name="Freeform 2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927240" y="3710399"/>
            <a:ext cx="1042538" cy="47625"/>
            <a:chOff x="0" y="0"/>
            <a:chExt cx="274578" cy="125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927240" y="2057698"/>
            <a:ext cx="8229600" cy="140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Proposed System: Core Pillars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927240" y="4748749"/>
            <a:ext cx="677751" cy="677751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874528" y="4729699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01. Multi-Specialty Clinical Workflows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Dedicated patient numbering schemes ('EYE-' vs 'DEN-'), digital triage registries, scheduled vs walk-in queues, ophthalmic refraction logs, and dental procedure records.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18060" y="492474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953135" y="4748749"/>
            <a:ext cx="677751" cy="677751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900423" y="4729699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02. Staff Attendance &amp; Payroll Engine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Daily biometric/tap attendance logging, automated leave-to-salary deduction calculations according to clinic rules, dynamic staff shift allocation, and task delegation tracking.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43955" y="492474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927240" y="6965275"/>
            <a:ext cx="677751" cy="677751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2874528" y="6946225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03. Dual-Specialty Supply Chain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Real-time tracking of optical frames, prescription lenses, dental burs, and restorative materials with automated reorder alerts, batch expiry warnings, and vendor purchase orders.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18060" y="71412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5953135" y="6965275"/>
            <a:ext cx="677751" cy="677751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900423" y="6946225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04. Integrated Invoicing &amp; Cloud Sync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Multi-item invoice generation (consultations, optical goods, dental procedures) paired with automated background Excel spreadsheet generation and cloud storage backup.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043955" y="71412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32651" y="0"/>
            <a:ext cx="8260763" cy="10287000"/>
            <a:chOff x="0" y="0"/>
            <a:chExt cx="2175674" cy="27093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75674" cy="2709333"/>
            </a:xfrm>
            <a:custGeom>
              <a:avLst/>
              <a:gdLst/>
              <a:ahLst/>
              <a:cxnLst/>
              <a:rect l="l" t="t" r="r" b="b"/>
              <a:pathLst>
                <a:path w="2175674" h="2709333">
                  <a:moveTo>
                    <a:pt x="0" y="0"/>
                  </a:moveTo>
                  <a:lnTo>
                    <a:pt x="2175674" y="0"/>
                  </a:lnTo>
                  <a:lnTo>
                    <a:pt x="2175674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175674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12" name="Group 1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-453973" y="1844576"/>
            <a:ext cx="3334483" cy="6597848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3053449" y="1844576"/>
            <a:ext cx="3334483" cy="6597848"/>
            <a:chOff x="0" y="0"/>
            <a:chExt cx="2620010" cy="5184140"/>
          </a:xfrm>
        </p:grpSpPr>
        <p:sp>
          <p:nvSpPr>
            <p:cNvPr id="26" name="Freeform 2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560870" y="1844576"/>
            <a:ext cx="3334483" cy="6597848"/>
            <a:chOff x="0" y="0"/>
            <a:chExt cx="2620010" cy="5184140"/>
          </a:xfrm>
        </p:grpSpPr>
        <p:sp>
          <p:nvSpPr>
            <p:cNvPr id="36" name="Freeform 3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45" name="TextBox 45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oppins"/>
              </a:rPr>
              <a:t>MKES CARE+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47" name="TextBox 47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48" name="TextBox 48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49" name="TextBox 49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02 | Automation &amp; AI Copilot Engine</a:t>
            </a:r>
          </a:p>
        </p:txBody>
      </p:sp>
      <p:grpSp>
        <p:nvGrpSpPr>
          <p:cNvPr id="50" name="Group 50"/>
          <p:cNvGrpSpPr/>
          <p:nvPr/>
        </p:nvGrpSpPr>
        <p:grpSpPr>
          <a:xfrm>
            <a:off x="11551926" y="3984685"/>
            <a:ext cx="1042538" cy="47625"/>
            <a:chOff x="0" y="0"/>
            <a:chExt cx="274578" cy="12543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2" name="TextBox 52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11551926" y="2331983"/>
            <a:ext cx="6858000" cy="140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600" b="1">
                <a:solidFill>
                  <a:srgbClr val="1F2020"/>
                </a:solidFill>
                <a:latin typeface="Poppins"/>
              </a:rPr>
              <a:t>AI Copilot &amp; Automation</a:t>
            </a:r>
          </a:p>
        </p:txBody>
      </p:sp>
      <p:grpSp>
        <p:nvGrpSpPr>
          <p:cNvPr id="54" name="Group 54"/>
          <p:cNvGrpSpPr/>
          <p:nvPr/>
        </p:nvGrpSpPr>
        <p:grpSpPr>
          <a:xfrm>
            <a:off x="11551926" y="4818459"/>
            <a:ext cx="677751" cy="677751"/>
            <a:chOff x="0" y="0"/>
            <a:chExt cx="812800" cy="81280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6" name="TextBox 5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2499214" y="4839423"/>
            <a:ext cx="5486400" cy="11887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Rule-Grounded Copilot Insights (Core Differentiator)</a:t>
            </a:r>
          </a:p>
          <a:p>
            <a:pPr algn="l"/>
            <a:r>
              <a:rPr sz="1400" b="0">
                <a:solidFill>
                  <a:srgbClr val="1F2020"/>
                </a:solidFill>
                <a:latin typeface="Open Sans"/>
              </a:rPr>
              <a:t>Synthesizes live database transactions daily to generate prioritized alerts: flags critical stock depletion, identifies batches expiring within 30 days, highlights unassigned tasks, and detects queue surges.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1642746" y="4994457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11551926" y="6028813"/>
            <a:ext cx="677751" cy="677751"/>
            <a:chOff x="0" y="0"/>
            <a:chExt cx="812800" cy="812800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61" name="TextBox 61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12499214" y="6049776"/>
            <a:ext cx="5486400" cy="11887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Automated WhatsApp Communication Engine</a:t>
            </a:r>
          </a:p>
          <a:p>
            <a:pPr algn="l"/>
            <a:r>
              <a:rPr sz="1400" b="0">
                <a:solidFill>
                  <a:srgbClr val="1F2020"/>
                </a:solidFill>
                <a:latin typeface="Open Sans"/>
              </a:rPr>
              <a:t>Leverages deep-linked 'wa.me' URL protocols to generate one-tap personalized patient appointment reminders, spectacle collection notifications, and vendor purchase orders without manual typing.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642746" y="6204811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grpSp>
        <p:nvGrpSpPr>
          <p:cNvPr id="64" name="Group 64"/>
          <p:cNvGrpSpPr/>
          <p:nvPr/>
        </p:nvGrpSpPr>
        <p:grpSpPr>
          <a:xfrm>
            <a:off x="11551926" y="7239166"/>
            <a:ext cx="677751" cy="677751"/>
            <a:chOff x="0" y="0"/>
            <a:chExt cx="812800" cy="81280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66" name="TextBox 6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12499214" y="7260130"/>
            <a:ext cx="5486400" cy="118872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Automated Excel Cloud Synchronization</a:t>
            </a:r>
          </a:p>
          <a:p>
            <a:pPr algn="l"/>
            <a:r>
              <a:rPr sz="1400" b="0">
                <a:solidFill>
                  <a:srgbClr val="1F2020"/>
                </a:solidFill>
                <a:latin typeface="Open Sans"/>
              </a:rPr>
              <a:t>Custom 'ExcelWorkbookBuilder' compiles multi-sheet clinical, inventory, and revenue audit spreadsheets on device, streaming them directly into Supabase 'clinic-excel-sync' storage for compliance.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642746" y="7415164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3062519" y="1736008"/>
            <a:ext cx="3444222" cy="6814984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03 | System Architecture &amp; Tier Breakdown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070960" y="3029716"/>
            <a:ext cx="1042538" cy="47625"/>
            <a:chOff x="0" y="0"/>
            <a:chExt cx="274578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070960" y="2139014"/>
            <a:ext cx="7772400" cy="73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System Architecture: 2-Tier Design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070960" y="3873661"/>
            <a:ext cx="4677331" cy="467733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690" y="0"/>
                  </a:moveTo>
                  <a:lnTo>
                    <a:pt x="768110" y="0"/>
                  </a:lnTo>
                  <a:cubicBezTo>
                    <a:pt x="779962" y="0"/>
                    <a:pt x="791329" y="4708"/>
                    <a:pt x="799710" y="13090"/>
                  </a:cubicBezTo>
                  <a:cubicBezTo>
                    <a:pt x="808092" y="21471"/>
                    <a:pt x="812800" y="32838"/>
                    <a:pt x="812800" y="44690"/>
                  </a:cubicBezTo>
                  <a:lnTo>
                    <a:pt x="812800" y="768110"/>
                  </a:lnTo>
                  <a:cubicBezTo>
                    <a:pt x="812800" y="779962"/>
                    <a:pt x="808092" y="791329"/>
                    <a:pt x="799710" y="799710"/>
                  </a:cubicBezTo>
                  <a:cubicBezTo>
                    <a:pt x="791329" y="808092"/>
                    <a:pt x="779962" y="812800"/>
                    <a:pt x="768110" y="812800"/>
                  </a:cubicBezTo>
                  <a:lnTo>
                    <a:pt x="44690" y="812800"/>
                  </a:lnTo>
                  <a:cubicBezTo>
                    <a:pt x="32838" y="812800"/>
                    <a:pt x="21471" y="808092"/>
                    <a:pt x="13090" y="799710"/>
                  </a:cubicBezTo>
                  <a:cubicBezTo>
                    <a:pt x="4708" y="791329"/>
                    <a:pt x="0" y="779962"/>
                    <a:pt x="0" y="768110"/>
                  </a:cubicBezTo>
                  <a:lnTo>
                    <a:pt x="0" y="44690"/>
                  </a:lnTo>
                  <a:cubicBezTo>
                    <a:pt x="0" y="32838"/>
                    <a:pt x="4708" y="21471"/>
                    <a:pt x="13090" y="13090"/>
                  </a:cubicBezTo>
                  <a:cubicBezTo>
                    <a:pt x="21471" y="4708"/>
                    <a:pt x="32838" y="0"/>
                    <a:pt x="4469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80288" y="3873661"/>
            <a:ext cx="4677331" cy="467733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690" y="0"/>
                  </a:moveTo>
                  <a:lnTo>
                    <a:pt x="768110" y="0"/>
                  </a:lnTo>
                  <a:cubicBezTo>
                    <a:pt x="779962" y="0"/>
                    <a:pt x="791329" y="4708"/>
                    <a:pt x="799710" y="13090"/>
                  </a:cubicBezTo>
                  <a:cubicBezTo>
                    <a:pt x="808092" y="21471"/>
                    <a:pt x="812800" y="32838"/>
                    <a:pt x="812800" y="44690"/>
                  </a:cubicBezTo>
                  <a:lnTo>
                    <a:pt x="812800" y="768110"/>
                  </a:lnTo>
                  <a:cubicBezTo>
                    <a:pt x="812800" y="779962"/>
                    <a:pt x="808092" y="791329"/>
                    <a:pt x="799710" y="799710"/>
                  </a:cubicBezTo>
                  <a:cubicBezTo>
                    <a:pt x="791329" y="808092"/>
                    <a:pt x="779962" y="812800"/>
                    <a:pt x="768110" y="812800"/>
                  </a:cubicBezTo>
                  <a:lnTo>
                    <a:pt x="44690" y="812800"/>
                  </a:lnTo>
                  <a:cubicBezTo>
                    <a:pt x="32838" y="812800"/>
                    <a:pt x="21471" y="808092"/>
                    <a:pt x="13090" y="799710"/>
                  </a:cubicBezTo>
                  <a:cubicBezTo>
                    <a:pt x="4708" y="791329"/>
                    <a:pt x="0" y="779962"/>
                    <a:pt x="0" y="768110"/>
                  </a:cubicBezTo>
                  <a:lnTo>
                    <a:pt x="0" y="44690"/>
                  </a:lnTo>
                  <a:cubicBezTo>
                    <a:pt x="0" y="32838"/>
                    <a:pt x="4708" y="21471"/>
                    <a:pt x="13090" y="13090"/>
                  </a:cubicBezTo>
                  <a:cubicBezTo>
                    <a:pt x="21471" y="4708"/>
                    <a:pt x="32838" y="0"/>
                    <a:pt x="4469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985164" y="4635387"/>
            <a:ext cx="1121789" cy="1121789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45720000" y="7656187"/>
            <a:ext cx="247059" cy="130941"/>
          </a:xfrm>
          <a:custGeom>
            <a:avLst/>
            <a:gdLst/>
            <a:ahLst/>
            <a:cxnLst/>
            <a:rect l="l" t="t" r="r" b="b"/>
            <a:pathLst>
              <a:path w="247059" h="130941">
                <a:moveTo>
                  <a:pt x="0" y="0"/>
                </a:moveTo>
                <a:lnTo>
                  <a:pt x="247059" y="0"/>
                </a:lnTo>
                <a:lnTo>
                  <a:pt x="247059" y="130941"/>
                </a:lnTo>
                <a:lnTo>
                  <a:pt x="0" y="130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41" name="Group 41"/>
          <p:cNvGrpSpPr/>
          <p:nvPr/>
        </p:nvGrpSpPr>
        <p:grpSpPr>
          <a:xfrm>
            <a:off x="8194492" y="4635387"/>
            <a:ext cx="1121789" cy="1121789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>
            <a:off x="45720000" y="7656187"/>
            <a:ext cx="247059" cy="130941"/>
          </a:xfrm>
          <a:custGeom>
            <a:avLst/>
            <a:gdLst/>
            <a:ahLst/>
            <a:cxnLst/>
            <a:rect l="l" t="t" r="r" b="b"/>
            <a:pathLst>
              <a:path w="247059" h="130941">
                <a:moveTo>
                  <a:pt x="0" y="0"/>
                </a:moveTo>
                <a:lnTo>
                  <a:pt x="247059" y="0"/>
                </a:lnTo>
                <a:lnTo>
                  <a:pt x="247059" y="130941"/>
                </a:lnTo>
                <a:lnTo>
                  <a:pt x="0" y="130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5" name="Freeform 45"/>
          <p:cNvSpPr/>
          <p:nvPr/>
        </p:nvSpPr>
        <p:spPr>
          <a:xfrm>
            <a:off x="3333486" y="4983710"/>
            <a:ext cx="425144" cy="425144"/>
          </a:xfrm>
          <a:custGeom>
            <a:avLst/>
            <a:gdLst/>
            <a:ahLst/>
            <a:cxnLst/>
            <a:rect l="l" t="t" r="r" b="b"/>
            <a:pathLst>
              <a:path w="425144" h="425144">
                <a:moveTo>
                  <a:pt x="0" y="0"/>
                </a:moveTo>
                <a:lnTo>
                  <a:pt x="425144" y="0"/>
                </a:lnTo>
                <a:lnTo>
                  <a:pt x="425144" y="425144"/>
                </a:lnTo>
                <a:lnTo>
                  <a:pt x="0" y="4251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6" name="Freeform 46"/>
          <p:cNvSpPr/>
          <p:nvPr/>
        </p:nvSpPr>
        <p:spPr>
          <a:xfrm>
            <a:off x="8498431" y="4983710"/>
            <a:ext cx="513910" cy="425144"/>
          </a:xfrm>
          <a:custGeom>
            <a:avLst/>
            <a:gdLst/>
            <a:ahLst/>
            <a:cxnLst/>
            <a:rect l="l" t="t" r="r" b="b"/>
            <a:pathLst>
              <a:path w="513910" h="425144">
                <a:moveTo>
                  <a:pt x="0" y="0"/>
                </a:moveTo>
                <a:lnTo>
                  <a:pt x="513910" y="0"/>
                </a:lnTo>
                <a:lnTo>
                  <a:pt x="513910" y="425144"/>
                </a:lnTo>
                <a:lnTo>
                  <a:pt x="0" y="4251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2985164" y="6483134"/>
            <a:ext cx="4023360" cy="1828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020"/>
                </a:solidFill>
                <a:latin typeface="Open Sans"/>
              </a:rPr>
              <a:t>• Flutter SDK (v3.3+) native Android rendering engine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020"/>
                </a:solidFill>
                <a:latin typeface="Open Sans"/>
              </a:rPr>
              <a:t>• Riverpod (v2.6.1) reactive state &amp; dependency injection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020"/>
                </a:solidFill>
                <a:latin typeface="Open Sans"/>
              </a:rPr>
              <a:t>• Material 3 UI Engine with MKES AppColors design tokens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020"/>
                </a:solidFill>
                <a:latin typeface="Open Sans"/>
              </a:rPr>
              <a:t>• 17 modular domain features across clinical, staff &amp; supply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985164" y="6035503"/>
            <a:ext cx="4389120" cy="32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900" b="1">
                <a:solidFill>
                  <a:srgbClr val="984800"/>
                </a:solidFill>
                <a:latin typeface="Poppins"/>
              </a:rPr>
              <a:t>Tier 1: Client &amp; Presentation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985164" y="7587075"/>
            <a:ext cx="1177818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194492" y="6483134"/>
            <a:ext cx="4023360" cy="1828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Supabase PostgreSQL 15+ with Row-Level Security (RLS)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Realtime WebSocket channels for instant queue sync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Storage Bucket: 'clinic-excel-sync' for XLSX audits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ExcelWorkbookBuilder multi-sheet report exporter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Deep-Link communication layer via WhatsApp 'wa.me'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94492" y="6035503"/>
            <a:ext cx="4389120" cy="32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oppins"/>
              </a:rPr>
              <a:t>Tier 2: Backend, DB &amp; Cloud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94492" y="7587075"/>
            <a:ext cx="1177818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0643" y="5532895"/>
            <a:ext cx="9163193" cy="916319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3491847" y="1596184"/>
            <a:ext cx="4180995" cy="8272818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760418" y="4100085"/>
            <a:ext cx="2915550" cy="5768917"/>
            <a:chOff x="0" y="0"/>
            <a:chExt cx="2620010" cy="5184140"/>
          </a:xfrm>
        </p:grpSpPr>
        <p:sp>
          <p:nvSpPr>
            <p:cNvPr id="26" name="Freeform 2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528297" y="5339641"/>
            <a:ext cx="2289092" cy="4529361"/>
            <a:chOff x="0" y="0"/>
            <a:chExt cx="2620010" cy="5184140"/>
          </a:xfrm>
        </p:grpSpPr>
        <p:sp>
          <p:nvSpPr>
            <p:cNvPr id="36" name="Freeform 3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1258044" y="2971800"/>
            <a:ext cx="1042538" cy="47625"/>
            <a:chOff x="0" y="0"/>
            <a:chExt cx="274578" cy="1254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03 | Data Flow &amp; Security Model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58044" y="2103120"/>
            <a:ext cx="68580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600" b="1">
                <a:solidFill>
                  <a:srgbClr val="1F2020"/>
                </a:solidFill>
                <a:latin typeface="Poppins"/>
              </a:rPr>
              <a:t>Data Flow &amp; Security Model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58044" y="7120786"/>
            <a:ext cx="5263403" cy="82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5" name="TextBox 55"/>
          <p:cNvSpPr txBox="1"/>
          <p:nvPr/>
        </p:nvSpPr>
        <p:spPr>
          <a:xfrm>
            <a:off x="11258044" y="6673111"/>
            <a:ext cx="2378606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6" name="TextBox 56"/>
          <p:cNvSpPr txBox="1"/>
          <p:nvPr/>
        </p:nvSpPr>
        <p:spPr>
          <a:xfrm>
            <a:off x="11258044" y="4824113"/>
            <a:ext cx="5263403" cy="1244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607040" y="3291840"/>
            <a:ext cx="6858000" cy="6217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1. Unidirectional Reactive State Flow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User interactions trigger Riverpod StateNotifiers, causing immediate optimistic UI updates while asynchronously dispatching parameterized queries to Supabase via secure HTTPS/REST.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2. Real-Time WebSocket Event Distribution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PostgreSQL write operations emit replication events over persistent WebSockets, synchronizing patient queue numbers across doctor consultation rooms and reception tablets in milliseconds.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3. Zero-Trust Row-Level Security (RLS)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Security is enforced strictly at the database engine level via JWT claims. Receptionists are restricted from modifying medical diagnoses, and doctors have scoped access to their assigned specialty.</a:t>
            </a:r>
          </a:p>
          <a:p>
            <a:pPr algn="l">
              <a:spcAft>
                <a:spcPts val="1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4. Automated Multi-Sheet Cloud Export Pipeline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F2020"/>
                </a:solidFill>
                <a:latin typeface="Open Sans"/>
              </a:rPr>
              <a:t>The 'ExcelWorkbookBuilder' constructs normalized multi-tab workbooks (Patients, Prescriptions, Financials) entirely in memory, uploading encrypted snapshots to Supabase Cloud Storage.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47856" y="4835475"/>
            <a:ext cx="3040836" cy="6016817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04 | Production Technology Stack — Frontend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4250703" y="2135091"/>
            <a:ext cx="3040836" cy="6016817"/>
            <a:chOff x="0" y="0"/>
            <a:chExt cx="2620010" cy="5184140"/>
          </a:xfrm>
        </p:grpSpPr>
        <p:sp>
          <p:nvSpPr>
            <p:cNvPr id="28" name="Freeform 2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7" name="Group 37"/>
          <p:cNvGrpSpPr>
            <a:grpSpLocks noChangeAspect="1"/>
          </p:cNvGrpSpPr>
          <p:nvPr/>
        </p:nvGrpSpPr>
        <p:grpSpPr>
          <a:xfrm>
            <a:off x="7553550" y="-565292"/>
            <a:ext cx="3040836" cy="6016817"/>
            <a:chOff x="0" y="0"/>
            <a:chExt cx="2620010" cy="5184140"/>
          </a:xfrm>
        </p:grpSpPr>
        <p:sp>
          <p:nvSpPr>
            <p:cNvPr id="38" name="Freeform 3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1893585" y="3390968"/>
            <a:ext cx="1042538" cy="47625"/>
            <a:chOff x="0" y="0"/>
            <a:chExt cx="274578" cy="12543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893585" y="2500267"/>
            <a:ext cx="7772400" cy="73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600" b="1">
                <a:solidFill>
                  <a:srgbClr val="1F2020"/>
                </a:solidFill>
                <a:latin typeface="Poppins"/>
              </a:rPr>
              <a:t>Frontend &amp; Mobile Engine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724083" y="6925982"/>
            <a:ext cx="677751" cy="677751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9671370" y="6906932"/>
            <a:ext cx="3108960" cy="2286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Client &amp; State Frameworks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Flutter SDK (v3.3+) &amp; Dart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Riverpod (v2.6.1) State Management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Material 3 UI Engine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Google Fonts (Poppins / Inter)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flutter_dotenv &amp; intl Formatting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814903" y="710197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13031373" y="6925982"/>
            <a:ext cx="677751" cy="677751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3978661" y="6906932"/>
            <a:ext cx="3108960" cy="22860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UI Engine &amp; Local Services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MKES AppColors Design Tokens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SharedPreferences Session Cache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Custom Form Validation Rules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Multi-Specialty Currency Formatter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• High-Performance Canvas Rendering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3122193" y="7101979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1893585" y="4203461"/>
            <a:ext cx="6217920" cy="13716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Verified Production Mobile Stack</a:t>
            </a:r>
          </a:p>
          <a:p>
            <a:pPr algn="l"/>
            <a:r>
              <a:rPr sz="1400" b="0">
                <a:solidFill>
                  <a:srgbClr val="1F2020"/>
                </a:solidFill>
                <a:latin typeface="Open Sans"/>
              </a:rPr>
              <a:t>Every technology is verified directly from the production repository: pubspec.yaml, Riverpod providers, Material 3 design tokens, and local cache handlers.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1520229" y="4470746"/>
            <a:ext cx="8252837" cy="825283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543171" y="1689836"/>
            <a:ext cx="2961571" cy="5859977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04 | Production Technology Stack — Backend &amp; Cloud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3703249" y="2737187"/>
            <a:ext cx="2961571" cy="5859977"/>
            <a:chOff x="0" y="0"/>
            <a:chExt cx="2620010" cy="5184140"/>
          </a:xfrm>
        </p:grpSpPr>
        <p:sp>
          <p:nvSpPr>
            <p:cNvPr id="28" name="Freeform 2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927240" y="3710399"/>
            <a:ext cx="1042538" cy="47625"/>
            <a:chOff x="0" y="0"/>
            <a:chExt cx="274578" cy="125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927240" y="2057698"/>
            <a:ext cx="8229600" cy="140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Backend, Database &amp; Cloud Stack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927240" y="4748749"/>
            <a:ext cx="677751" cy="677751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874528" y="4729699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01. Supabase PostgreSQL 15+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Enterprise-grade relational database managing 15+ normalized relational tables (patients, appointments, staff, inventory, bills) with ACID transaction integrity.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18060" y="492474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953135" y="4748749"/>
            <a:ext cx="677751" cy="677751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900423" y="4729699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02. Row-Level Security (RLS) Engine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Granular access control policies executed within PostgreSQL, validating JWT claims to isolate sensitive ophthalmic and dental records according to user roles.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43955" y="492474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927240" y="6965275"/>
            <a:ext cx="677751" cy="677751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2874528" y="6946225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03. Cloud Storage &amp; Sync Bucket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Supabase Storage bucket ('clinic-excel-sync') storing encrypted, timestamped Excel operational workbooks generated automatically by the client device.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18060" y="71412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5953135" y="6965275"/>
            <a:ext cx="677751" cy="677751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900423" y="6946225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04. Communication &amp; AI APIs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'url_launcher' powering deep-linked WhatsApp ('wa.me') transactional communications, paired with an extensible modular provider layer prepared for LLM API integration.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043955" y="71412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-32651" y="5334000"/>
            <a:ext cx="18320651" cy="4953000"/>
            <a:chOff x="0" y="0"/>
            <a:chExt cx="4825192" cy="130449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825192" cy="1304494"/>
            </a:xfrm>
            <a:custGeom>
              <a:avLst/>
              <a:gdLst/>
              <a:ahLst/>
              <a:cxnLst/>
              <a:rect l="l" t="t" r="r" b="b"/>
              <a:pathLst>
                <a:path w="4825192" h="1304494">
                  <a:moveTo>
                    <a:pt x="0" y="0"/>
                  </a:moveTo>
                  <a:lnTo>
                    <a:pt x="4825192" y="0"/>
                  </a:lnTo>
                  <a:lnTo>
                    <a:pt x="4825192" y="1304494"/>
                  </a:lnTo>
                  <a:lnTo>
                    <a:pt x="0" y="1304494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4825192" cy="13425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EE8438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1835457" y="3287447"/>
            <a:ext cx="2068613" cy="4093106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05 | Implementation Snapshots — Core Modules</a:t>
            </a:r>
          </a:p>
        </p:txBody>
      </p: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4345151" y="3287447"/>
            <a:ext cx="2068613" cy="4093106"/>
            <a:chOff x="0" y="0"/>
            <a:chExt cx="2620010" cy="5184140"/>
          </a:xfrm>
        </p:grpSpPr>
        <p:sp>
          <p:nvSpPr>
            <p:cNvPr id="31" name="Freeform 3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40" name="Group 40"/>
          <p:cNvGrpSpPr>
            <a:grpSpLocks noChangeAspect="1"/>
          </p:cNvGrpSpPr>
          <p:nvPr/>
        </p:nvGrpSpPr>
        <p:grpSpPr>
          <a:xfrm>
            <a:off x="6854846" y="3287447"/>
            <a:ext cx="2068613" cy="4093106"/>
            <a:chOff x="0" y="0"/>
            <a:chExt cx="2620010" cy="5184140"/>
          </a:xfrm>
        </p:grpSpPr>
        <p:sp>
          <p:nvSpPr>
            <p:cNvPr id="41" name="Freeform 4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5" name="Freeform 4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50" name="Group 50"/>
          <p:cNvGrpSpPr>
            <a:grpSpLocks noChangeAspect="1"/>
          </p:cNvGrpSpPr>
          <p:nvPr/>
        </p:nvGrpSpPr>
        <p:grpSpPr>
          <a:xfrm>
            <a:off x="9364541" y="3287447"/>
            <a:ext cx="2068613" cy="4093106"/>
            <a:chOff x="0" y="0"/>
            <a:chExt cx="2620010" cy="5184140"/>
          </a:xfrm>
        </p:grpSpPr>
        <p:sp>
          <p:nvSpPr>
            <p:cNvPr id="51" name="Freeform 5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60" name="Group 60"/>
          <p:cNvGrpSpPr>
            <a:grpSpLocks noChangeAspect="1"/>
          </p:cNvGrpSpPr>
          <p:nvPr/>
        </p:nvGrpSpPr>
        <p:grpSpPr>
          <a:xfrm>
            <a:off x="11874236" y="3287447"/>
            <a:ext cx="2068613" cy="4093106"/>
            <a:chOff x="0" y="0"/>
            <a:chExt cx="2620010" cy="5184140"/>
          </a:xfrm>
        </p:grpSpPr>
        <p:sp>
          <p:nvSpPr>
            <p:cNvPr id="61" name="Freeform 6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63" name="Freeform 6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64" name="Freeform 6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68" name="Freeform 6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70" name="Group 70"/>
          <p:cNvGrpSpPr>
            <a:grpSpLocks noChangeAspect="1"/>
          </p:cNvGrpSpPr>
          <p:nvPr/>
        </p:nvGrpSpPr>
        <p:grpSpPr>
          <a:xfrm>
            <a:off x="14383930" y="3287447"/>
            <a:ext cx="2068613" cy="4093106"/>
            <a:chOff x="0" y="0"/>
            <a:chExt cx="2620010" cy="5184140"/>
          </a:xfrm>
        </p:grpSpPr>
        <p:sp>
          <p:nvSpPr>
            <p:cNvPr id="71" name="Freeform 7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72" name="Freeform 7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73" name="Freeform 7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76" name="Freeform 7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77" name="Freeform 7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78" name="Freeform 7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80" name="Group 80"/>
          <p:cNvGrpSpPr/>
          <p:nvPr/>
        </p:nvGrpSpPr>
        <p:grpSpPr>
          <a:xfrm>
            <a:off x="8825038" y="2715947"/>
            <a:ext cx="1042538" cy="47625"/>
            <a:chOff x="0" y="0"/>
            <a:chExt cx="274578" cy="12543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82" name="TextBox 82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3" name="TextBox 83"/>
          <p:cNvSpPr txBox="1"/>
          <p:nvPr/>
        </p:nvSpPr>
        <p:spPr>
          <a:xfrm>
            <a:off x="6132341" y="1826418"/>
            <a:ext cx="7772400" cy="73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3600" b="1">
                <a:solidFill>
                  <a:srgbClr val="1F2020"/>
                </a:solidFill>
                <a:latin typeface="Poppins"/>
              </a:rPr>
              <a:t>Implementation: Six Core Modules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200400" y="8503920"/>
            <a:ext cx="11887200" cy="7315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Open Sans"/>
              </a:rPr>
              <a:t>Six production-ready Android modules built with Flutter 3.3+ and Supabase PostgreSQL. Phone frames prepared for screenshot insertion.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746504" y="7406640"/>
            <a:ext cx="2249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1. Auth &amp; Roles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Open Sans"/>
              </a:rPr>
              <a:t>Multi-role login (Admin, Doctor, Staff, Reception) with persistent session tokens.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4251960" y="7406640"/>
            <a:ext cx="2249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2. Admin Dashboard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Open Sans"/>
              </a:rPr>
              <a:t>Live clinic KPIs, fast action buttons, and rule-grounded Copilot Insights.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766560" y="7406640"/>
            <a:ext cx="2249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3. Patient Queues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Open Sans"/>
              </a:rPr>
              <a:t>Dual-specialty patient registry, triage numbering, and doctor consultation queues.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272015" y="7406640"/>
            <a:ext cx="2249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4. Staff Portal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Open Sans"/>
              </a:rPr>
              <a:t>Attendance marking, leave salary deduction rules, and dynamic task tracking.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1786615" y="7406640"/>
            <a:ext cx="2249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5. Clinic Inventory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Open Sans"/>
              </a:rPr>
              <a:t>Dual-specialty stock levels, expiry indicators, and vendor purchase orders.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4292072" y="7406640"/>
            <a:ext cx="2249424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Poppins"/>
              </a:rPr>
              <a:t>6. Billing &amp; Reports</a:t>
            </a:r>
          </a:p>
          <a:p>
            <a:pPr algn="ctr"/>
            <a:r>
              <a:rPr sz="1250" b="0">
                <a:solidFill>
                  <a:srgbClr val="FFFFFF"/>
                </a:solidFill>
                <a:latin typeface="Open Sans"/>
              </a:rPr>
              <a:t>Multi-procedure invoicing, payment tracking, and automated Excel cloud sync.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3062519" y="1736008"/>
            <a:ext cx="3444222" cy="6814984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05 | Implementation Detail — Clinical Operations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2070960" y="3029716"/>
            <a:ext cx="1042538" cy="47625"/>
            <a:chOff x="0" y="0"/>
            <a:chExt cx="274578" cy="12543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2070960" y="2139014"/>
            <a:ext cx="7772400" cy="73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Clinical Modules: Eye &amp; Dental Care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2070960" y="3873661"/>
            <a:ext cx="4677331" cy="4677331"/>
            <a:chOff x="0" y="0"/>
            <a:chExt cx="812800" cy="812800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690" y="0"/>
                  </a:moveTo>
                  <a:lnTo>
                    <a:pt x="768110" y="0"/>
                  </a:lnTo>
                  <a:cubicBezTo>
                    <a:pt x="779962" y="0"/>
                    <a:pt x="791329" y="4708"/>
                    <a:pt x="799710" y="13090"/>
                  </a:cubicBezTo>
                  <a:cubicBezTo>
                    <a:pt x="808092" y="21471"/>
                    <a:pt x="812800" y="32838"/>
                    <a:pt x="812800" y="44690"/>
                  </a:cubicBezTo>
                  <a:lnTo>
                    <a:pt x="812800" y="768110"/>
                  </a:lnTo>
                  <a:cubicBezTo>
                    <a:pt x="812800" y="779962"/>
                    <a:pt x="808092" y="791329"/>
                    <a:pt x="799710" y="799710"/>
                  </a:cubicBezTo>
                  <a:cubicBezTo>
                    <a:pt x="791329" y="808092"/>
                    <a:pt x="779962" y="812800"/>
                    <a:pt x="768110" y="812800"/>
                  </a:cubicBezTo>
                  <a:lnTo>
                    <a:pt x="44690" y="812800"/>
                  </a:lnTo>
                  <a:cubicBezTo>
                    <a:pt x="32838" y="812800"/>
                    <a:pt x="21471" y="808092"/>
                    <a:pt x="13090" y="799710"/>
                  </a:cubicBezTo>
                  <a:cubicBezTo>
                    <a:pt x="4708" y="791329"/>
                    <a:pt x="0" y="779962"/>
                    <a:pt x="0" y="768110"/>
                  </a:cubicBezTo>
                  <a:lnTo>
                    <a:pt x="0" y="44690"/>
                  </a:lnTo>
                  <a:cubicBezTo>
                    <a:pt x="0" y="32838"/>
                    <a:pt x="4708" y="21471"/>
                    <a:pt x="13090" y="13090"/>
                  </a:cubicBezTo>
                  <a:cubicBezTo>
                    <a:pt x="21471" y="4708"/>
                    <a:pt x="32838" y="0"/>
                    <a:pt x="44690" y="0"/>
                  </a:cubicBezTo>
                  <a:close/>
                </a:path>
              </a:pathLst>
            </a:custGeom>
            <a:solidFill>
              <a:srgbClr val="F8F8F8"/>
            </a:solidFill>
          </p:spPr>
        </p:sp>
        <p:sp>
          <p:nvSpPr>
            <p:cNvPr id="33" name="TextBox 33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280288" y="3873661"/>
            <a:ext cx="4677331" cy="4677331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4690" y="0"/>
                  </a:moveTo>
                  <a:lnTo>
                    <a:pt x="768110" y="0"/>
                  </a:lnTo>
                  <a:cubicBezTo>
                    <a:pt x="779962" y="0"/>
                    <a:pt x="791329" y="4708"/>
                    <a:pt x="799710" y="13090"/>
                  </a:cubicBezTo>
                  <a:cubicBezTo>
                    <a:pt x="808092" y="21471"/>
                    <a:pt x="812800" y="32838"/>
                    <a:pt x="812800" y="44690"/>
                  </a:cubicBezTo>
                  <a:lnTo>
                    <a:pt x="812800" y="768110"/>
                  </a:lnTo>
                  <a:cubicBezTo>
                    <a:pt x="812800" y="779962"/>
                    <a:pt x="808092" y="791329"/>
                    <a:pt x="799710" y="799710"/>
                  </a:cubicBezTo>
                  <a:cubicBezTo>
                    <a:pt x="791329" y="808092"/>
                    <a:pt x="779962" y="812800"/>
                    <a:pt x="768110" y="812800"/>
                  </a:cubicBezTo>
                  <a:lnTo>
                    <a:pt x="44690" y="812800"/>
                  </a:lnTo>
                  <a:cubicBezTo>
                    <a:pt x="32838" y="812800"/>
                    <a:pt x="21471" y="808092"/>
                    <a:pt x="13090" y="799710"/>
                  </a:cubicBezTo>
                  <a:cubicBezTo>
                    <a:pt x="4708" y="791329"/>
                    <a:pt x="0" y="779962"/>
                    <a:pt x="0" y="768110"/>
                  </a:cubicBezTo>
                  <a:lnTo>
                    <a:pt x="0" y="44690"/>
                  </a:lnTo>
                  <a:cubicBezTo>
                    <a:pt x="0" y="32838"/>
                    <a:pt x="4708" y="21471"/>
                    <a:pt x="13090" y="13090"/>
                  </a:cubicBezTo>
                  <a:cubicBezTo>
                    <a:pt x="21471" y="4708"/>
                    <a:pt x="32838" y="0"/>
                    <a:pt x="4469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2985164" y="4635387"/>
            <a:ext cx="1121789" cy="1121789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0" name="Freeform 40"/>
          <p:cNvSpPr/>
          <p:nvPr/>
        </p:nvSpPr>
        <p:spPr>
          <a:xfrm>
            <a:off x="45720000" y="7656187"/>
            <a:ext cx="247059" cy="130941"/>
          </a:xfrm>
          <a:custGeom>
            <a:avLst/>
            <a:gdLst/>
            <a:ahLst/>
            <a:cxnLst/>
            <a:rect l="l" t="t" r="r" b="b"/>
            <a:pathLst>
              <a:path w="247059" h="130941">
                <a:moveTo>
                  <a:pt x="0" y="0"/>
                </a:moveTo>
                <a:lnTo>
                  <a:pt x="247059" y="0"/>
                </a:lnTo>
                <a:lnTo>
                  <a:pt x="247059" y="130941"/>
                </a:lnTo>
                <a:lnTo>
                  <a:pt x="0" y="1309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41" name="Group 41"/>
          <p:cNvGrpSpPr/>
          <p:nvPr/>
        </p:nvGrpSpPr>
        <p:grpSpPr>
          <a:xfrm>
            <a:off x="8194492" y="4635387"/>
            <a:ext cx="1121789" cy="1121789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4" name="Freeform 44"/>
          <p:cNvSpPr/>
          <p:nvPr/>
        </p:nvSpPr>
        <p:spPr>
          <a:xfrm>
            <a:off x="45720000" y="7656187"/>
            <a:ext cx="247059" cy="130941"/>
          </a:xfrm>
          <a:custGeom>
            <a:avLst/>
            <a:gdLst/>
            <a:ahLst/>
            <a:cxnLst/>
            <a:rect l="l" t="t" r="r" b="b"/>
            <a:pathLst>
              <a:path w="247059" h="130941">
                <a:moveTo>
                  <a:pt x="0" y="0"/>
                </a:moveTo>
                <a:lnTo>
                  <a:pt x="247059" y="0"/>
                </a:lnTo>
                <a:lnTo>
                  <a:pt x="247059" y="130941"/>
                </a:lnTo>
                <a:lnTo>
                  <a:pt x="0" y="13094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5" name="Freeform 45"/>
          <p:cNvSpPr/>
          <p:nvPr/>
        </p:nvSpPr>
        <p:spPr>
          <a:xfrm>
            <a:off x="3333486" y="4983710"/>
            <a:ext cx="425144" cy="425144"/>
          </a:xfrm>
          <a:custGeom>
            <a:avLst/>
            <a:gdLst/>
            <a:ahLst/>
            <a:cxnLst/>
            <a:rect l="l" t="t" r="r" b="b"/>
            <a:pathLst>
              <a:path w="425144" h="425144">
                <a:moveTo>
                  <a:pt x="0" y="0"/>
                </a:moveTo>
                <a:lnTo>
                  <a:pt x="425144" y="0"/>
                </a:lnTo>
                <a:lnTo>
                  <a:pt x="425144" y="425144"/>
                </a:lnTo>
                <a:lnTo>
                  <a:pt x="0" y="42514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6" name="Freeform 46"/>
          <p:cNvSpPr/>
          <p:nvPr/>
        </p:nvSpPr>
        <p:spPr>
          <a:xfrm>
            <a:off x="8498431" y="4983710"/>
            <a:ext cx="513910" cy="425144"/>
          </a:xfrm>
          <a:custGeom>
            <a:avLst/>
            <a:gdLst/>
            <a:ahLst/>
            <a:cxnLst/>
            <a:rect l="l" t="t" r="r" b="b"/>
            <a:pathLst>
              <a:path w="513910" h="425144">
                <a:moveTo>
                  <a:pt x="0" y="0"/>
                </a:moveTo>
                <a:lnTo>
                  <a:pt x="513910" y="0"/>
                </a:lnTo>
                <a:lnTo>
                  <a:pt x="513910" y="425144"/>
                </a:lnTo>
                <a:lnTo>
                  <a:pt x="0" y="42514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2985164" y="6483134"/>
            <a:ext cx="4023360" cy="1828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020"/>
                </a:solidFill>
                <a:latin typeface="Open Sans"/>
              </a:rPr>
              <a:t>• Department-specific 'EYE-' patient registry &amp; tracking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020"/>
                </a:solidFill>
                <a:latin typeface="Open Sans"/>
              </a:rPr>
              <a:t>• Visual acuity &amp; refraction parameter capture (Sph/Cyl/Axis)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020"/>
                </a:solidFill>
                <a:latin typeface="Open Sans"/>
              </a:rPr>
              <a:t>• Optical frame &amp; prescription lens dispensing linkage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F2020"/>
                </a:solidFill>
                <a:latin typeface="Open Sans"/>
              </a:rPr>
              <a:t>• Pre-operative eye surgery checklists &amp; follow-up notices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2985164" y="6035503"/>
            <a:ext cx="4389120" cy="32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900" b="1">
                <a:solidFill>
                  <a:srgbClr val="984800"/>
                </a:solidFill>
                <a:latin typeface="Poppins"/>
              </a:rPr>
              <a:t>Ophthalmology (Eye Care) Module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985164" y="7587075"/>
            <a:ext cx="1177818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8194492" y="6483134"/>
            <a:ext cx="4023360" cy="1828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Department-specific 'DEN-' patient numbering &amp; triage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Procedure logging: scaling, fillings, root canals, extractions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Dental laboratory case tracking &amp; return date logging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Open Sans"/>
              </a:rPr>
              <a:t>• Chairside consumable deduction upon visit completion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8194492" y="6035503"/>
            <a:ext cx="4389120" cy="3224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Poppins"/>
              </a:rPr>
              <a:t>Dental Operatory Module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194492" y="7587075"/>
            <a:ext cx="1177818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1520229" y="4470746"/>
            <a:ext cx="8252837" cy="8252837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10543171" y="1689836"/>
            <a:ext cx="2961571" cy="5859977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2" name="TextBox 2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4" name="TextBox 2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5" name="TextBox 2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6" name="TextBox 2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05 | Implementation Detail — Workforce &amp; Inventory</a:t>
            </a:r>
          </a:p>
        </p:txBody>
      </p: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13703249" y="2737187"/>
            <a:ext cx="2961571" cy="5859977"/>
            <a:chOff x="0" y="0"/>
            <a:chExt cx="2620010" cy="5184140"/>
          </a:xfrm>
        </p:grpSpPr>
        <p:sp>
          <p:nvSpPr>
            <p:cNvPr id="28" name="Freeform 2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927240" y="3710399"/>
            <a:ext cx="1042538" cy="47625"/>
            <a:chOff x="0" y="0"/>
            <a:chExt cx="274578" cy="125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927240" y="2057698"/>
            <a:ext cx="8229600" cy="1407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Workforce &amp; Supply Chain Control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927240" y="4748749"/>
            <a:ext cx="677751" cy="677751"/>
            <a:chOff x="0" y="0"/>
            <a:chExt cx="812800" cy="81280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3" name="TextBox 4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4" name="TextBox 44"/>
          <p:cNvSpPr txBox="1"/>
          <p:nvPr/>
        </p:nvSpPr>
        <p:spPr>
          <a:xfrm>
            <a:off x="2874528" y="4729699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01. Daily Attendance Tracking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One-tap mobile check-in/out with exact timestamp validation, logging present, absent, half-day, and on-leave statuses across clinic departments.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018060" y="492474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01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5953135" y="4748749"/>
            <a:ext cx="677751" cy="677751"/>
            <a:chOff x="0" y="0"/>
            <a:chExt cx="812800" cy="81280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8" name="TextBox 4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6900423" y="4729699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02. Salary Deduction Engine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Calculates exact payroll deductions for unapproved leaves and half-days based on configurable clinic fiscal policies, eliminating manual payroll discrepancies.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043955" y="4924746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02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1927240" y="6965275"/>
            <a:ext cx="677751" cy="677751"/>
            <a:chOff x="0" y="0"/>
            <a:chExt cx="812800" cy="81280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3" name="TextBox 5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4" name="TextBox 54"/>
          <p:cNvSpPr txBox="1"/>
          <p:nvPr/>
        </p:nvSpPr>
        <p:spPr>
          <a:xfrm>
            <a:off x="2874528" y="6946225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03. Dual-Specialty Inventory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Categorized catalog tracking optical frames, ophthalmic solutions, dental composites, and surgical consumables with real-time stock decrements upon billing.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2018060" y="71412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03</a:t>
            </a:r>
          </a:p>
        </p:txBody>
      </p:sp>
      <p:grpSp>
        <p:nvGrpSpPr>
          <p:cNvPr id="56" name="Group 56"/>
          <p:cNvGrpSpPr/>
          <p:nvPr/>
        </p:nvGrpSpPr>
        <p:grpSpPr>
          <a:xfrm>
            <a:off x="5953135" y="6965275"/>
            <a:ext cx="677751" cy="677751"/>
            <a:chOff x="0" y="0"/>
            <a:chExt cx="812800" cy="812800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58" name="TextBox 5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239"/>
                </a:lnSpc>
              </a:pPr>
              <a:endParaRPr/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6900423" y="6946225"/>
            <a:ext cx="3017520" cy="192024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984800"/>
                </a:solidFill>
                <a:latin typeface="Poppins"/>
              </a:rPr>
              <a:t>04. Batch Expiry &amp; Low-Stock Alerts</a:t>
            </a:r>
          </a:p>
          <a:p>
            <a:pPr algn="l"/>
            <a:r>
              <a:rPr sz="1350" b="0">
                <a:solidFill>
                  <a:srgbClr val="1F2020"/>
                </a:solidFill>
                <a:latin typeface="Open Sans"/>
              </a:rPr>
              <a:t>Visual threshold alerts flagging critical low inventory levels and highlighting consumable batches approaching expiration within 30 or 60 days.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6043955" y="7141273"/>
            <a:ext cx="496110" cy="297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Poppins"/>
              </a:rPr>
              <a:t>04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16" name="TextBox 1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06 | Future Scope &amp; System Roadmap</a:t>
            </a:r>
          </a:p>
        </p:txBody>
      </p: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4313621" y="-592800"/>
            <a:ext cx="4658921" cy="9218475"/>
            <a:chOff x="0" y="0"/>
            <a:chExt cx="2620010" cy="5184140"/>
          </a:xfrm>
        </p:grpSpPr>
        <p:sp>
          <p:nvSpPr>
            <p:cNvPr id="18" name="Freeform 1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-563694" y="1661325"/>
            <a:ext cx="4658921" cy="9218475"/>
            <a:chOff x="0" y="0"/>
            <a:chExt cx="2620010" cy="5184140"/>
          </a:xfrm>
        </p:grpSpPr>
        <p:sp>
          <p:nvSpPr>
            <p:cNvPr id="28" name="Freeform 28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0638396" y="3192387"/>
            <a:ext cx="1042538" cy="47625"/>
            <a:chOff x="0" y="0"/>
            <a:chExt cx="274578" cy="1254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638396" y="2282636"/>
            <a:ext cx="804672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Future Scope &amp; Strategic Roadmap</a:t>
            </a:r>
          </a:p>
        </p:txBody>
      </p:sp>
      <p:pic>
        <p:nvPicPr>
          <p:cNvPr id="41" name="Picture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0733" y="4046189"/>
            <a:ext cx="1891960" cy="1891960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10638396" y="5925312"/>
            <a:ext cx="2103120" cy="27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400" b="1">
                <a:solidFill>
                  <a:srgbClr val="984800"/>
                </a:solidFill>
                <a:latin typeface="Poppins"/>
              </a:rPr>
              <a:t>Phase 1: AI Copilot</a:t>
            </a:r>
            <a:br/>
            <a:r>
              <a:rPr sz="1400" b="1">
                <a:solidFill>
                  <a:srgbClr val="984800"/>
                </a:solidFill>
                <a:latin typeface="Poppins"/>
              </a:rPr>
              <a:t>[Planned]</a:t>
            </a:r>
          </a:p>
        </p:txBody>
      </p:sp>
      <p:pic>
        <p:nvPicPr>
          <p:cNvPr id="43" name="Picture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1419" y="4046189"/>
            <a:ext cx="1891960" cy="1891960"/>
          </a:xfrm>
          <a:prstGeom prst="rect">
            <a:avLst/>
          </a:prstGeom>
        </p:spPr>
      </p:pic>
      <p:sp>
        <p:nvSpPr>
          <p:cNvPr id="44" name="TextBox 44"/>
          <p:cNvSpPr txBox="1"/>
          <p:nvPr/>
        </p:nvSpPr>
        <p:spPr>
          <a:xfrm>
            <a:off x="12669082" y="5925312"/>
            <a:ext cx="2103120" cy="27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400" b="1">
                <a:solidFill>
                  <a:srgbClr val="984800"/>
                </a:solidFill>
                <a:latin typeface="Poppins"/>
              </a:rPr>
              <a:t>Phase 2: Hardware APIs</a:t>
            </a:r>
            <a:br/>
            <a:r>
              <a:rPr sz="1400" b="1">
                <a:solidFill>
                  <a:srgbClr val="984800"/>
                </a:solidFill>
                <a:latin typeface="Poppins"/>
              </a:rPr>
              <a:t>[Planned]</a:t>
            </a:r>
          </a:p>
        </p:txBody>
      </p:sp>
      <p:pic>
        <p:nvPicPr>
          <p:cNvPr id="45" name="Picture 4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42808" y="4046189"/>
            <a:ext cx="1891960" cy="1891960"/>
          </a:xfrm>
          <a:prstGeom prst="rect">
            <a:avLst/>
          </a:prstGeom>
        </p:spPr>
      </p:pic>
      <p:sp>
        <p:nvSpPr>
          <p:cNvPr id="46" name="TextBox 46"/>
          <p:cNvSpPr txBox="1"/>
          <p:nvPr/>
        </p:nvSpPr>
        <p:spPr>
          <a:xfrm>
            <a:off x="14700471" y="5925312"/>
            <a:ext cx="2103120" cy="272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1400" b="1">
                <a:solidFill>
                  <a:srgbClr val="984800"/>
                </a:solidFill>
                <a:latin typeface="Poppins"/>
              </a:rPr>
              <a:t>Phase 3: Diagnostics</a:t>
            </a:r>
            <a:br/>
            <a:r>
              <a:rPr sz="1400" b="1">
                <a:solidFill>
                  <a:srgbClr val="984800"/>
                </a:solidFill>
                <a:latin typeface="Poppins"/>
              </a:rPr>
              <a:t>[Planned]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638396" y="6812280"/>
            <a:ext cx="6766560" cy="265176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Planned Engineering Enhancements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• Advanced Conversational AI: Integration of LLM APIs for hands-free voice booking, doctor dictation, and predictive models for forecasting daily footfall.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• Hardware &amp; Official Messaging: Direct API linkage with biometric attendance terminals (fingerprint/face recognition) and the official WhatsApp Business Cloud API.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• Clinical Imaging &amp; Telehealth: DICOM ophthalmic diagnostic viewer, 3D dental scan rendering, secure patient portal, and multi-branch automated disaster recovery.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222926" y="5797632"/>
            <a:ext cx="8887018" cy="8887018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8713388" y="1860297"/>
            <a:ext cx="4627172" cy="9155655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7" name="TextBox 27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8" name="TextBox 28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29" name="TextBox 29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07 | Conclusion &amp; Operational Summary</a:t>
            </a:r>
          </a:p>
        </p:txBody>
      </p:sp>
      <p:grpSp>
        <p:nvGrpSpPr>
          <p:cNvPr id="30" name="Group 30"/>
          <p:cNvGrpSpPr>
            <a:grpSpLocks noChangeAspect="1"/>
          </p:cNvGrpSpPr>
          <p:nvPr/>
        </p:nvGrpSpPr>
        <p:grpSpPr>
          <a:xfrm rot="1427266">
            <a:off x="12617627" y="2278681"/>
            <a:ext cx="3556881" cy="7037901"/>
            <a:chOff x="0" y="0"/>
            <a:chExt cx="2620010" cy="5184140"/>
          </a:xfrm>
        </p:grpSpPr>
        <p:sp>
          <p:nvSpPr>
            <p:cNvPr id="31" name="Freeform 31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40" name="Group 40"/>
          <p:cNvGrpSpPr/>
          <p:nvPr/>
        </p:nvGrpSpPr>
        <p:grpSpPr>
          <a:xfrm>
            <a:off x="2005352" y="3702532"/>
            <a:ext cx="1042538" cy="47625"/>
            <a:chOff x="0" y="0"/>
            <a:chExt cx="274578" cy="12543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3" name="TextBox 43"/>
          <p:cNvSpPr txBox="1"/>
          <p:nvPr/>
        </p:nvSpPr>
        <p:spPr>
          <a:xfrm>
            <a:off x="2005352" y="2792780"/>
            <a:ext cx="5669280" cy="731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400" b="1">
                <a:solidFill>
                  <a:srgbClr val="1F2020"/>
                </a:solidFill>
                <a:latin typeface="Poppins"/>
              </a:rPr>
              <a:t>Conclusion: Strategic Value</a:t>
            </a:r>
          </a:p>
        </p:txBody>
      </p:sp>
      <p:sp>
        <p:nvSpPr>
          <p:cNvPr id="44" name="Freeform 44"/>
          <p:cNvSpPr/>
          <p:nvPr/>
        </p:nvSpPr>
        <p:spPr>
          <a:xfrm>
            <a:off x="2005352" y="4666888"/>
            <a:ext cx="351730" cy="351730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5" name="TextBox 45"/>
          <p:cNvSpPr txBox="1"/>
          <p:nvPr/>
        </p:nvSpPr>
        <p:spPr>
          <a:xfrm>
            <a:off x="2643200" y="4654394"/>
            <a:ext cx="4937760" cy="685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984800"/>
                </a:solidFill>
                <a:latin typeface="Poppins"/>
              </a:rPr>
              <a:t>Dual-Specialty Unification:</a:t>
            </a:r>
          </a:p>
          <a:p>
            <a:pPr algn="l"/>
            <a:r>
              <a:rPr sz="1300" b="0">
                <a:solidFill>
                  <a:srgbClr val="1F2020"/>
                </a:solidFill>
                <a:latin typeface="Open Sans"/>
              </a:rPr>
              <a:t>Unified eye and dental workflows eliminating operational silos.</a:t>
            </a:r>
          </a:p>
        </p:txBody>
      </p:sp>
      <p:sp>
        <p:nvSpPr>
          <p:cNvPr id="46" name="Freeform 46"/>
          <p:cNvSpPr/>
          <p:nvPr/>
        </p:nvSpPr>
        <p:spPr>
          <a:xfrm>
            <a:off x="2005352" y="5481902"/>
            <a:ext cx="351730" cy="351730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0"/>
                </a:lnTo>
                <a:lnTo>
                  <a:pt x="0" y="35173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xmlns="" r:embed="rId8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7" name="TextBox 47"/>
          <p:cNvSpPr txBox="1"/>
          <p:nvPr/>
        </p:nvSpPr>
        <p:spPr>
          <a:xfrm>
            <a:off x="2643200" y="5469408"/>
            <a:ext cx="4937760" cy="685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984800"/>
                </a:solidFill>
                <a:latin typeface="Poppins"/>
              </a:rPr>
              <a:t>Operational Coordination:</a:t>
            </a:r>
          </a:p>
          <a:p>
            <a:pPr algn="l"/>
            <a:r>
              <a:rPr sz="1300" b="0">
                <a:solidFill>
                  <a:srgbClr val="1F2020"/>
                </a:solidFill>
                <a:latin typeface="Open Sans"/>
              </a:rPr>
              <a:t>Streamlined queues, staff attendance, leave deductions, and lab orders.</a:t>
            </a:r>
          </a:p>
        </p:txBody>
      </p:sp>
      <p:sp>
        <p:nvSpPr>
          <p:cNvPr id="48" name="Freeform 48"/>
          <p:cNvSpPr/>
          <p:nvPr/>
        </p:nvSpPr>
        <p:spPr>
          <a:xfrm>
            <a:off x="2005352" y="6293146"/>
            <a:ext cx="351730" cy="351730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0"/>
                </a:lnTo>
                <a:lnTo>
                  <a:pt x="0" y="3517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xmlns="" r:embed="rId10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49" name="TextBox 49"/>
          <p:cNvSpPr txBox="1"/>
          <p:nvPr/>
        </p:nvSpPr>
        <p:spPr>
          <a:xfrm>
            <a:off x="2643200" y="6287365"/>
            <a:ext cx="4937760" cy="685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984800"/>
                </a:solidFill>
                <a:latin typeface="Poppins"/>
              </a:rPr>
              <a:t>Grounded Clinical Intelligence:</a:t>
            </a:r>
          </a:p>
          <a:p>
            <a:pPr algn="l"/>
            <a:r>
              <a:rPr sz="1300" b="0">
                <a:solidFill>
                  <a:srgbClr val="1F2020"/>
                </a:solidFill>
                <a:latin typeface="Open Sans"/>
              </a:rPr>
              <a:t>Real-time Copilot alerts on stockouts, expired batches, and overdue tasks.</a:t>
            </a:r>
          </a:p>
        </p:txBody>
      </p:sp>
      <p:sp>
        <p:nvSpPr>
          <p:cNvPr id="50" name="Freeform 50"/>
          <p:cNvSpPr/>
          <p:nvPr/>
        </p:nvSpPr>
        <p:spPr>
          <a:xfrm>
            <a:off x="2005352" y="7104389"/>
            <a:ext cx="351730" cy="351730"/>
          </a:xfrm>
          <a:custGeom>
            <a:avLst/>
            <a:gdLst/>
            <a:ahLst/>
            <a:cxnLst/>
            <a:rect l="l" t="t" r="r" b="b"/>
            <a:pathLst>
              <a:path w="351730" h="351730">
                <a:moveTo>
                  <a:pt x="0" y="0"/>
                </a:moveTo>
                <a:lnTo>
                  <a:pt x="351731" y="0"/>
                </a:lnTo>
                <a:lnTo>
                  <a:pt x="351731" y="351731"/>
                </a:lnTo>
                <a:lnTo>
                  <a:pt x="0" y="3517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xmlns="" r:embed="rId12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sp>
        <p:nvSpPr>
          <p:cNvPr id="51" name="TextBox 51"/>
          <p:cNvSpPr txBox="1"/>
          <p:nvPr/>
        </p:nvSpPr>
        <p:spPr>
          <a:xfrm>
            <a:off x="2643200" y="7109681"/>
            <a:ext cx="4937760" cy="685800"/>
          </a:xfrm>
          <a:prstGeom prst="rect">
            <a:avLst/>
          </a:prstGeom>
        </p:spPr>
        <p:txBody>
          <a:bodyPr lIns="0" tIns="0" rIns="0" bIns="0" rtlCol="0" anchor="t" wrap="square">
            <a:spAutoFit/>
          </a:bodyPr>
          <a:lstStyle/>
          <a:p>
            <a:pPr algn="l">
              <a:spcAft>
                <a:spcPts val="100"/>
              </a:spcAft>
            </a:pPr>
            <a:r>
              <a:rPr sz="1550" b="1">
                <a:solidFill>
                  <a:srgbClr val="984800"/>
                </a:solidFill>
                <a:latin typeface="Poppins"/>
              </a:rPr>
              <a:t>Production-Grade Engineering:</a:t>
            </a:r>
          </a:p>
          <a:p>
            <a:pPr algn="l"/>
            <a:r>
              <a:rPr sz="1300" b="0">
                <a:solidFill>
                  <a:srgbClr val="1F2020"/>
                </a:solidFill>
                <a:latin typeface="Open Sans"/>
              </a:rPr>
              <a:t>Engineered on Flutter 3.3, Riverpod reactive state, and Supabase RLS.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02536" y="8001000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>
                <a:solidFill>
                  <a:srgbClr val="984800"/>
                </a:solidFill>
                <a:latin typeface="Poppins"/>
              </a:rPr>
              <a:t>"MKES brings clinic operations, automation, and intelligent decision support together in one integrated Android application."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18177932" y="8597752"/>
            <a:ext cx="110068" cy="660548"/>
            <a:chOff x="0" y="0"/>
            <a:chExt cx="28989" cy="1739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8989" cy="173972"/>
            </a:xfrm>
            <a:custGeom>
              <a:avLst/>
              <a:gdLst/>
              <a:ahLst/>
              <a:cxnLst/>
              <a:rect l="l" t="t" r="r" b="b"/>
              <a:pathLst>
                <a:path w="28989" h="173972">
                  <a:moveTo>
                    <a:pt x="0" y="0"/>
                  </a:moveTo>
                  <a:lnTo>
                    <a:pt x="28989" y="0"/>
                  </a:lnTo>
                  <a:lnTo>
                    <a:pt x="28989" y="173972"/>
                  </a:lnTo>
                  <a:lnTo>
                    <a:pt x="0" y="173972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28989" cy="2120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10643" y="5532895"/>
            <a:ext cx="9163193" cy="916319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3491847" y="1596184"/>
            <a:ext cx="4180995" cy="8272818"/>
            <a:chOff x="0" y="0"/>
            <a:chExt cx="2620010" cy="5184140"/>
          </a:xfrm>
        </p:grpSpPr>
        <p:sp>
          <p:nvSpPr>
            <p:cNvPr id="16" name="Freeform 1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5" name="Group 25"/>
          <p:cNvGrpSpPr>
            <a:grpSpLocks noChangeAspect="1"/>
          </p:cNvGrpSpPr>
          <p:nvPr/>
        </p:nvGrpSpPr>
        <p:grpSpPr>
          <a:xfrm>
            <a:off x="1760418" y="4100085"/>
            <a:ext cx="2915550" cy="5768917"/>
            <a:chOff x="0" y="0"/>
            <a:chExt cx="2620010" cy="5184140"/>
          </a:xfrm>
        </p:grpSpPr>
        <p:sp>
          <p:nvSpPr>
            <p:cNvPr id="26" name="Freeform 2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6528297" y="5339641"/>
            <a:ext cx="2289092" cy="4529361"/>
            <a:chOff x="0" y="0"/>
            <a:chExt cx="2620010" cy="5184140"/>
          </a:xfrm>
        </p:grpSpPr>
        <p:sp>
          <p:nvSpPr>
            <p:cNvPr id="36" name="Freeform 36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2" name="Freeform 42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11258044" y="2971800"/>
            <a:ext cx="1042538" cy="47625"/>
            <a:chOff x="0" y="0"/>
            <a:chExt cx="274578" cy="12543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74578" cy="12543"/>
            </a:xfrm>
            <a:custGeom>
              <a:avLst/>
              <a:gdLst/>
              <a:ahLst/>
              <a:cxnLst/>
              <a:rect l="l" t="t" r="r" b="b"/>
              <a:pathLst>
                <a:path w="274578" h="12543">
                  <a:moveTo>
                    <a:pt x="6272" y="0"/>
                  </a:moveTo>
                  <a:lnTo>
                    <a:pt x="268306" y="0"/>
                  </a:lnTo>
                  <a:cubicBezTo>
                    <a:pt x="269970" y="0"/>
                    <a:pt x="271565" y="661"/>
                    <a:pt x="272741" y="1837"/>
                  </a:cubicBezTo>
                  <a:cubicBezTo>
                    <a:pt x="273917" y="3013"/>
                    <a:pt x="274578" y="4608"/>
                    <a:pt x="274578" y="6272"/>
                  </a:cubicBezTo>
                  <a:lnTo>
                    <a:pt x="274578" y="6272"/>
                  </a:lnTo>
                  <a:cubicBezTo>
                    <a:pt x="274578" y="7935"/>
                    <a:pt x="273917" y="9530"/>
                    <a:pt x="272741" y="10706"/>
                  </a:cubicBezTo>
                  <a:cubicBezTo>
                    <a:pt x="271565" y="11882"/>
                    <a:pt x="269970" y="12543"/>
                    <a:pt x="268306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7" name="TextBox 47"/>
            <p:cNvSpPr txBox="1"/>
            <p:nvPr/>
          </p:nvSpPr>
          <p:spPr>
            <a:xfrm>
              <a:off x="0" y="-38100"/>
              <a:ext cx="274578" cy="50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8" name="TextBox 48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0" name="TextBox 50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1" name="TextBox 51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2" name="TextBox 52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08 | References (IEEE Format)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1258044" y="2103120"/>
            <a:ext cx="68580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3600" b="1">
                <a:solidFill>
                  <a:srgbClr val="1F2020"/>
                </a:solidFill>
                <a:latin typeface="Poppins"/>
              </a:rPr>
              <a:t>References (IEEE Format)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1258044" y="7120786"/>
            <a:ext cx="5263403" cy="826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5" name="TextBox 55"/>
          <p:cNvSpPr txBox="1"/>
          <p:nvPr/>
        </p:nvSpPr>
        <p:spPr>
          <a:xfrm>
            <a:off x="11258044" y="6673111"/>
            <a:ext cx="2378606" cy="240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6" name="TextBox 56"/>
          <p:cNvSpPr txBox="1"/>
          <p:nvPr/>
        </p:nvSpPr>
        <p:spPr>
          <a:xfrm>
            <a:off x="11258044" y="4824113"/>
            <a:ext cx="5263403" cy="12449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10607040" y="3108960"/>
            <a:ext cx="6949440" cy="6583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</a:pPr>
            <a:r>
              <a:rPr sz="1800" b="1">
                <a:solidFill>
                  <a:srgbClr val="984800"/>
                </a:solidFill>
                <a:latin typeface="Poppins"/>
              </a:rPr>
              <a:t>Verified Academic &amp; Technical Literature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[1] Google LLC, "Flutter: Build apps for any screen from a single codebase," Flutter Official Documentation, 2024. [Online]. Available: https://docs.flutter.dev. [Accessed: Oct. 2026].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[2] Dart Team, "Dart Programming Language Specification and Core Libraries," Dart.dev, 2024. [Online]. Available: https://dart.dev.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[3] Supabase Inc., "Supabase Architecture, PostgreSQL and Row Level Security Guide," Supabase Documentation, 2024. [Online]. Available: https://supabase.com/docs.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[4] R. Rouhi et al., "Cloud-Based Electronic Health Record Systems: Architecture and Security Requirements," IEEE Access, vol. 9, pp. 12045–12058, 2021.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[5] E. H. Shortliffe and J. J. Cimino, Eds., Biomedical Informatics: Computer Applications in Health Care and Biomedicine, 5th ed. Cham, Switzerland: Springer, 2021.</a:t>
            </a:r>
          </a:p>
          <a:p>
            <a:pPr algn="l">
              <a:spcAft>
                <a:spcPts val="300"/>
              </a:spcAft>
            </a:pPr>
            <a:r>
              <a:rPr sz="1350" b="0">
                <a:solidFill>
                  <a:srgbClr val="1F2020"/>
                </a:solidFill>
                <a:latin typeface="Open Sans"/>
              </a:rPr>
              <a:t>[6] Meta Platforms, "WhatsApp Click to Chat API (wa.me) Integration Guide," Meta for Developers, 2024. [Online]. Available: https://developers.facebook.com.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293116" y="565634"/>
            <a:ext cx="397367" cy="28996"/>
            <a:chOff x="0" y="0"/>
            <a:chExt cx="128243" cy="93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93116" y="657737"/>
            <a:ext cx="397367" cy="28996"/>
            <a:chOff x="0" y="0"/>
            <a:chExt cx="128243" cy="93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8243" cy="9358"/>
            </a:xfrm>
            <a:custGeom>
              <a:avLst/>
              <a:gdLst/>
              <a:ahLst/>
              <a:cxnLst/>
              <a:rect l="l" t="t" r="r" b="b"/>
              <a:pathLst>
                <a:path w="128243" h="9358">
                  <a:moveTo>
                    <a:pt x="0" y="0"/>
                  </a:moveTo>
                  <a:lnTo>
                    <a:pt x="128243" y="0"/>
                  </a:lnTo>
                  <a:lnTo>
                    <a:pt x="128243" y="9358"/>
                  </a:lnTo>
                  <a:lnTo>
                    <a:pt x="0" y="9358"/>
                  </a:ln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8243" cy="474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673429" y="486649"/>
            <a:ext cx="274427" cy="260019"/>
          </a:xfrm>
          <a:custGeom>
            <a:avLst/>
            <a:gdLst/>
            <a:ahLst/>
            <a:cxnLst/>
            <a:rect l="l" t="t" r="r" b="b"/>
            <a:pathLst>
              <a:path w="274427" h="260019">
                <a:moveTo>
                  <a:pt x="0" y="0"/>
                </a:moveTo>
                <a:lnTo>
                  <a:pt x="274427" y="0"/>
                </a:lnTo>
                <a:lnTo>
                  <a:pt x="274427" y="260020"/>
                </a:lnTo>
                <a:lnTo>
                  <a:pt x="0" y="2600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p/>
        </p:txBody>
      </p:sp>
      <p:grpSp>
        <p:nvGrpSpPr>
          <p:cNvPr id="9" name="Group 9"/>
          <p:cNvGrpSpPr/>
          <p:nvPr/>
        </p:nvGrpSpPr>
        <p:grpSpPr>
          <a:xfrm>
            <a:off x="-1148802" y="7301218"/>
            <a:ext cx="20585603" cy="5264356"/>
            <a:chOff x="0" y="0"/>
            <a:chExt cx="4274726" cy="1093176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4274726" cy="1093176"/>
            </a:xfrm>
            <a:custGeom>
              <a:avLst/>
              <a:gdLst/>
              <a:ahLst/>
              <a:cxnLst/>
              <a:rect l="l" t="t" r="r" b="b"/>
              <a:pathLst>
                <a:path w="4274726" h="1093176">
                  <a:moveTo>
                    <a:pt x="2137363" y="0"/>
                  </a:moveTo>
                  <a:cubicBezTo>
                    <a:pt x="956930" y="0"/>
                    <a:pt x="0" y="244716"/>
                    <a:pt x="0" y="546588"/>
                  </a:cubicBezTo>
                  <a:cubicBezTo>
                    <a:pt x="0" y="848460"/>
                    <a:pt x="956930" y="1093176"/>
                    <a:pt x="2137363" y="1093176"/>
                  </a:cubicBezTo>
                  <a:cubicBezTo>
                    <a:pt x="3317796" y="1093176"/>
                    <a:pt x="4274726" y="848460"/>
                    <a:pt x="4274726" y="546588"/>
                  </a:cubicBezTo>
                  <a:cubicBezTo>
                    <a:pt x="4274726" y="244716"/>
                    <a:pt x="3317796" y="0"/>
                    <a:pt x="2137363" y="0"/>
                  </a:cubicBezTo>
                  <a:close/>
                </a:path>
              </a:pathLst>
            </a:custGeom>
            <a:solidFill>
              <a:srgbClr val="984800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400756" y="64385"/>
              <a:ext cx="3473215" cy="92630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7406341" y="4044667"/>
            <a:ext cx="3475318" cy="6876514"/>
            <a:chOff x="0" y="0"/>
            <a:chExt cx="2620010" cy="5184140"/>
          </a:xfrm>
        </p:grpSpPr>
        <p:sp>
          <p:nvSpPr>
            <p:cNvPr id="13" name="Freeform 1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8" name="Freeform 1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1" name="Freeform 2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10329460" y="5143500"/>
            <a:ext cx="2919979" cy="5777681"/>
            <a:chOff x="0" y="0"/>
            <a:chExt cx="2620010" cy="5184140"/>
          </a:xfrm>
        </p:grpSpPr>
        <p:sp>
          <p:nvSpPr>
            <p:cNvPr id="23" name="Freeform 2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27" name="Freeform 2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29" name="Freeform 2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0" name="Freeform 3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32" name="Group 32"/>
          <p:cNvGrpSpPr>
            <a:grpSpLocks noChangeAspect="1"/>
          </p:cNvGrpSpPr>
          <p:nvPr/>
        </p:nvGrpSpPr>
        <p:grpSpPr>
          <a:xfrm>
            <a:off x="5038561" y="5143500"/>
            <a:ext cx="2919979" cy="5777681"/>
            <a:chOff x="0" y="0"/>
            <a:chExt cx="2620010" cy="5184140"/>
          </a:xfrm>
        </p:grpSpPr>
        <p:sp>
          <p:nvSpPr>
            <p:cNvPr id="33" name="Freeform 3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39" name="Freeform 3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1" name="Freeform 4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42" name="Group 42"/>
          <p:cNvGrpSpPr>
            <a:grpSpLocks noChangeAspect="1"/>
          </p:cNvGrpSpPr>
          <p:nvPr/>
        </p:nvGrpSpPr>
        <p:grpSpPr>
          <a:xfrm>
            <a:off x="12697923" y="6476535"/>
            <a:ext cx="2246277" cy="4444645"/>
            <a:chOff x="0" y="0"/>
            <a:chExt cx="2620010" cy="5184140"/>
          </a:xfrm>
        </p:grpSpPr>
        <p:sp>
          <p:nvSpPr>
            <p:cNvPr id="43" name="Freeform 4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8" name="Freeform 4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51" name="Freeform 5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grpSp>
        <p:nvGrpSpPr>
          <p:cNvPr id="52" name="Group 52"/>
          <p:cNvGrpSpPr>
            <a:grpSpLocks noChangeAspect="1"/>
          </p:cNvGrpSpPr>
          <p:nvPr/>
        </p:nvGrpSpPr>
        <p:grpSpPr>
          <a:xfrm>
            <a:off x="3343800" y="6476535"/>
            <a:ext cx="2246277" cy="4444645"/>
            <a:chOff x="0" y="0"/>
            <a:chExt cx="2620010" cy="5184140"/>
          </a:xfrm>
        </p:grpSpPr>
        <p:sp>
          <p:nvSpPr>
            <p:cNvPr id="53" name="Freeform 53"/>
            <p:cNvSpPr/>
            <p:nvPr/>
          </p:nvSpPr>
          <p:spPr>
            <a:xfrm>
              <a:off x="53340" y="25400"/>
              <a:ext cx="2513330" cy="5132070"/>
            </a:xfrm>
            <a:custGeom>
              <a:avLst/>
              <a:gdLst/>
              <a:ahLst/>
              <a:cxnLst/>
              <a:rect l="l" t="t" r="r" b="b"/>
              <a:pathLst>
                <a:path w="2513330" h="513207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54" name="Freeform 54"/>
            <p:cNvSpPr/>
            <p:nvPr/>
          </p:nvSpPr>
          <p:spPr>
            <a:xfrm>
              <a:off x="185420" y="156210"/>
              <a:ext cx="2250453" cy="4876800"/>
            </a:xfrm>
            <a:custGeom>
              <a:avLst/>
              <a:gdLst/>
              <a:ahLst/>
              <a:cxnLst/>
              <a:rect l="l" t="t" r="r" b="b"/>
              <a:pathLst>
                <a:path w="2250453" h="487680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4"/>
              <a:stretch>
                <a:fillRect l="-58351" r="-58351"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>
              <a:off x="1121410" y="198120"/>
              <a:ext cx="347980" cy="43180"/>
            </a:xfrm>
            <a:custGeom>
              <a:avLst/>
              <a:gdLst/>
              <a:ahLst/>
              <a:cxnLst/>
              <a:rect l="l" t="t" r="r" b="b"/>
              <a:pathLst>
                <a:path w="347980" h="431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1579738" y="187960"/>
              <a:ext cx="63785" cy="63501"/>
            </a:xfrm>
            <a:custGeom>
              <a:avLst/>
              <a:gdLst/>
              <a:ahLst/>
              <a:cxnLst/>
              <a:rect l="l" t="t" r="r" b="b"/>
              <a:pathLst>
                <a:path w="63785" h="63501">
                  <a:moveTo>
                    <a:pt x="31892" y="0"/>
                  </a:moveTo>
                  <a:cubicBezTo>
                    <a:pt x="20515" y="-51"/>
                    <a:pt x="9980" y="5989"/>
                    <a:pt x="4277" y="15834"/>
                  </a:cubicBezTo>
                  <a:cubicBezTo>
                    <a:pt x="-1426" y="25678"/>
                    <a:pt x="-1426" y="37822"/>
                    <a:pt x="4277" y="47666"/>
                  </a:cubicBezTo>
                  <a:cubicBezTo>
                    <a:pt x="9980" y="57511"/>
                    <a:pt x="20515" y="63551"/>
                    <a:pt x="31892" y="63500"/>
                  </a:cubicBezTo>
                  <a:cubicBezTo>
                    <a:pt x="43269" y="63551"/>
                    <a:pt x="53804" y="57511"/>
                    <a:pt x="59507" y="47666"/>
                  </a:cubicBezTo>
                  <a:cubicBezTo>
                    <a:pt x="65210" y="37822"/>
                    <a:pt x="65210" y="25678"/>
                    <a:pt x="59507" y="15834"/>
                  </a:cubicBezTo>
                  <a:cubicBezTo>
                    <a:pt x="53804" y="5989"/>
                    <a:pt x="43269" y="-51"/>
                    <a:pt x="31892" y="0"/>
                  </a:cubicBezTo>
                  <a:close/>
                </a:path>
              </a:pathLst>
            </a:custGeom>
            <a:solidFill>
              <a:srgbClr val="606060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685800"/>
              <a:ext cx="27940" cy="213360"/>
            </a:xfrm>
            <a:custGeom>
              <a:avLst/>
              <a:gdLst/>
              <a:ahLst/>
              <a:cxnLst/>
              <a:rect l="l" t="t" r="r" b="b"/>
              <a:pathLst>
                <a:path w="27940" h="21336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58" name="Freeform 58"/>
            <p:cNvSpPr/>
            <p:nvPr/>
          </p:nvSpPr>
          <p:spPr>
            <a:xfrm>
              <a:off x="0" y="1057910"/>
              <a:ext cx="27940" cy="384810"/>
            </a:xfrm>
            <a:custGeom>
              <a:avLst/>
              <a:gdLst/>
              <a:ahLst/>
              <a:cxnLst/>
              <a:rect l="l" t="t" r="r" b="b"/>
              <a:pathLst>
                <a:path w="27940" h="38481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1526540"/>
              <a:ext cx="27940" cy="386080"/>
            </a:xfrm>
            <a:custGeom>
              <a:avLst/>
              <a:gdLst/>
              <a:ahLst/>
              <a:cxnLst/>
              <a:rect l="l" t="t" r="r" b="b"/>
              <a:pathLst>
                <a:path w="27940" h="38608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60" name="Freeform 60"/>
            <p:cNvSpPr/>
            <p:nvPr/>
          </p:nvSpPr>
          <p:spPr>
            <a:xfrm>
              <a:off x="2592070" y="1184910"/>
              <a:ext cx="27940" cy="618490"/>
            </a:xfrm>
            <a:custGeom>
              <a:avLst/>
              <a:gdLst/>
              <a:ahLst/>
              <a:cxnLst/>
              <a:rect l="l" t="t" r="r" b="b"/>
              <a:pathLst>
                <a:path w="27940" h="61849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B8B8B8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27940" y="0"/>
              <a:ext cx="2564130" cy="5182870"/>
            </a:xfrm>
            <a:custGeom>
              <a:avLst/>
              <a:gdLst/>
              <a:ahLst/>
              <a:cxnLst/>
              <a:rect l="l" t="t" r="r" b="b"/>
              <a:pathLst>
                <a:path w="2564130" h="518287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E9E9E9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1039108" y="517674"/>
            <a:ext cx="274320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/>
            <a:r>
              <a:rPr sz="1400" b="1">
                <a:solidFill>
                  <a:srgbClr val="984800"/>
                </a:solidFill>
                <a:latin typeface="Poppins"/>
              </a:rPr>
              <a:t>MKES CARE+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5940842" y="517674"/>
            <a:ext cx="97846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64" name="TextBox 64"/>
          <p:cNvSpPr txBox="1"/>
          <p:nvPr/>
        </p:nvSpPr>
        <p:spPr>
          <a:xfrm>
            <a:off x="14385046" y="517674"/>
            <a:ext cx="1060497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65" name="TextBox 65"/>
          <p:cNvSpPr txBox="1"/>
          <p:nvPr/>
        </p:nvSpPr>
        <p:spPr>
          <a:xfrm>
            <a:off x="13154289" y="517674"/>
            <a:ext cx="735456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/>
        </p:txBody>
      </p:sp>
      <p:sp>
        <p:nvSpPr>
          <p:cNvPr id="66" name="TextBox 66"/>
          <p:cNvSpPr txBox="1"/>
          <p:nvPr/>
        </p:nvSpPr>
        <p:spPr>
          <a:xfrm>
            <a:off x="8686800" y="517674"/>
            <a:ext cx="8046720" cy="1979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/>
            <a:r>
              <a:rPr sz="1300" b="0">
                <a:solidFill>
                  <a:srgbClr val="705548"/>
                </a:solidFill>
                <a:latin typeface="Open Sans"/>
              </a:rPr>
              <a:t>09 | Academic Viva Defense &amp; Q&amp;A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3657600" y="777240"/>
            <a:ext cx="10972800" cy="822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sz="4000" b="1">
                <a:solidFill>
                  <a:srgbClr val="984800"/>
                </a:solidFill>
                <a:latin typeface="Poppins"/>
              </a:rPr>
              <a:t>Thank You &amp; Viva Q&amp;A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200400" y="224028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984800"/>
                </a:solidFill>
                <a:latin typeface="Poppins"/>
              </a:rPr>
              <a:t>Presented by: [Student Name(s)]   •   Guided by: [Guide Name]</a:t>
            </a:r>
          </a:p>
          <a:p>
            <a:pPr algn="ctr"/>
            <a:r>
              <a:rPr sz="1400" b="0">
                <a:solidFill>
                  <a:srgbClr val="1F2020"/>
                </a:solidFill>
                <a:latin typeface="Open Sans"/>
              </a:rPr>
              <a:t>Department of Computer Science &amp; Engineering / IT   •   Academic Year 2025–2026</a:t>
            </a:r>
          </a:p>
          <a:p>
            <a:pPr algn="ctr"/>
            <a:r>
              <a:rPr sz="1400" b="0">
                <a:solidFill>
                  <a:srgbClr val="705548"/>
                </a:solidFill>
                <a:latin typeface="Open Sans"/>
              </a:rPr>
              <a:t>Platform: Flutter SDK 3.3+ (Android Native)   •   Backend: Supabase PostgreSQL 15+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1609</Words>
  <Application>Microsoft Office PowerPoint</Application>
  <PresentationFormat>Custom</PresentationFormat>
  <Paragraphs>197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Open Sans</vt:lpstr>
      <vt:lpstr>Open Sans Bold</vt:lpstr>
      <vt:lpstr>Poppins</vt:lpstr>
      <vt:lpstr>Poppins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Tatva jain</dc:creator>
  <cp:lastModifiedBy>Tatva jain</cp:lastModifiedBy>
  <cp:revision>1</cp:revision>
  <dcterms:created xsi:type="dcterms:W3CDTF">2026-10-18T15:28:43Z</dcterms:created>
  <dcterms:modified xsi:type="dcterms:W3CDTF">2026-10-18T15:28:43Z</dcterms:modified>
</cp:coreProperties>
</file>